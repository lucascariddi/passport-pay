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Hi, this is Passport Pay. AI agents are starting to spend real money, and today the only thing standing between a hijacked agent and your wallet is hope. We fixed that on Stellar.</a:t>
            </a: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Here's our real agent. It read a page with a hidden instruction to pay an attacker. It obeyed and signed. Stellar rejected it, because the rules are enforced by the agent's own contract account. x402 says how an agent pays. Passport Pay decides who can pay, whom, and how much, without trusting anyone.</a:t>
            </a: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Every team building agents that pay hits the same wall: you can't hand an agent a budget without handing it the keys. And sellers can't trust who's on the other side. Passport Pay gives owners a hard limit and sellers a human behind every buyer.</a:t>
            </a:r>
          </a:p>
        </p:txBody>
      </p:sp>
      <p:sp>
        <p:nvSpPr>
          <p:cNvPr id="126" name="Google Shape;12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Three steps. Prove, bind, enforce. The key is that enforcement runs inside __check_auth, so the official facilitator rejects at simulation and the ledger rejects if anyone skips it. Prior work is declared: the ZK passport comes from open-stellar-passport, and Open Stellar had the marketplace with checks in the backend. Here we moved them onchain.</a:t>
            </a:r>
          </a:p>
        </p:txBody>
      </p:sp>
      <p:sp>
        <p:nvSpPr>
          <p:cNvPr id="148" name="Google Shape;14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I'm Lucas, I run marketing and growth, and I'm a Stellar Ambassador in Buenos Aires. We built this because every agent team we talk to hits the same wall. Try it yourself: the link is on screen. Thanks.</a:t>
            </a:r>
          </a:p>
        </p:txBody>
      </p:sp>
      <p:sp>
        <p:nvSpPr>
          <p:cNvPr id="170" name="Google Shape;17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Tight"/>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Tigh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Tight"/>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Tight"/>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Tight"/>
              <a:buNone/>
              <a:defRPr b="0" i="0" sz="4400" u="none" cap="none" strike="noStrike">
                <a:solidFill>
                  <a:schemeClr val="dk1"/>
                </a:solidFill>
                <a:latin typeface="Inter Tight"/>
                <a:ea typeface="Inter Tight"/>
                <a:cs typeface="Inter Tight"/>
                <a:sym typeface="Inter T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strument Sans"/>
                <a:ea typeface="Instrument Sans"/>
                <a:cs typeface="Instrument Sans"/>
                <a:sym typeface="Instrument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strument Sans"/>
                <a:ea typeface="Instrument Sans"/>
                <a:cs typeface="Instrument Sans"/>
                <a:sym typeface="Instrument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strument Sans"/>
                <a:ea typeface="Instrument Sans"/>
                <a:cs typeface="Instrument Sans"/>
                <a:sym typeface="Instrument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strument Sans"/>
                <a:ea typeface="Instrument Sans"/>
                <a:cs typeface="Instrument Sans"/>
                <a:sym typeface="Instrument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strument Sans"/>
                <a:ea typeface="Instrument Sans"/>
                <a:cs typeface="Instrument Sans"/>
                <a:sym typeface="Instrument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strument Sans"/>
                <a:ea typeface="Instrument Sans"/>
                <a:cs typeface="Instrument Sans"/>
                <a:sym typeface="Instrument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strument Sans"/>
                <a:ea typeface="Instrument Sans"/>
                <a:cs typeface="Instrument Sans"/>
                <a:sym typeface="Instrument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strument Sans"/>
                <a:ea typeface="Instrument Sans"/>
                <a:cs typeface="Instrument Sans"/>
                <a:sym typeface="Instrument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strument Sans"/>
                <a:ea typeface="Instrument Sans"/>
                <a:cs typeface="Instrument Sans"/>
                <a:sym typeface="Instrument Sans"/>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strument Sans"/>
                <a:ea typeface="Instrument Sans"/>
                <a:cs typeface="Instrument Sans"/>
                <a:sym typeface="Instrument Sans"/>
              </a:defRPr>
            </a:lvl1pPr>
            <a:lvl2pPr lvl="1"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2pPr>
            <a:lvl3pPr lvl="2"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3pPr>
            <a:lvl4pPr lvl="3"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4pPr>
            <a:lvl5pPr lvl="4"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5pPr>
            <a:lvl6pPr lvl="5"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6pPr>
            <a:lvl7pPr lvl="6"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7pPr>
            <a:lvl8pPr lvl="7"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8pPr>
            <a:lvl9pPr lvl="8"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strument Sans"/>
                <a:ea typeface="Instrument Sans"/>
                <a:cs typeface="Instrument Sans"/>
                <a:sym typeface="Instrument Sans"/>
              </a:defRPr>
            </a:lvl1pPr>
            <a:lvl2pPr lvl="1"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2pPr>
            <a:lvl3pPr lvl="2"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3pPr>
            <a:lvl4pPr lvl="3"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4pPr>
            <a:lvl5pPr lvl="4"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5pPr>
            <a:lvl6pPr lvl="5"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6pPr>
            <a:lvl7pPr lvl="6"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7pPr>
            <a:lvl8pPr lvl="7"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8pPr>
            <a:lvl9pPr lvl="8"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strument Sans"/>
                <a:ea typeface="Instrument Sans"/>
                <a:cs typeface="Instrument Sans"/>
                <a:sym typeface="Instrument Sans"/>
              </a:defRPr>
            </a:lvl1pPr>
            <a:lvl2pPr indent="0" lvl="1" marL="0" marR="0" rtl="0" algn="r">
              <a:spcBef>
                <a:spcPts val="0"/>
              </a:spcBef>
              <a:buNone/>
              <a:defRPr b="0" i="0" sz="1200" u="none" cap="none" strike="noStrike">
                <a:solidFill>
                  <a:srgbClr val="888888"/>
                </a:solidFill>
                <a:latin typeface="Instrument Sans"/>
                <a:ea typeface="Instrument Sans"/>
                <a:cs typeface="Instrument Sans"/>
                <a:sym typeface="Instrument Sans"/>
              </a:defRPr>
            </a:lvl2pPr>
            <a:lvl3pPr indent="0" lvl="2" marL="0" marR="0" rtl="0" algn="r">
              <a:spcBef>
                <a:spcPts val="0"/>
              </a:spcBef>
              <a:buNone/>
              <a:defRPr b="0" i="0" sz="1200" u="none" cap="none" strike="noStrike">
                <a:solidFill>
                  <a:srgbClr val="888888"/>
                </a:solidFill>
                <a:latin typeface="Instrument Sans"/>
                <a:ea typeface="Instrument Sans"/>
                <a:cs typeface="Instrument Sans"/>
                <a:sym typeface="Instrument Sans"/>
              </a:defRPr>
            </a:lvl3pPr>
            <a:lvl4pPr indent="0" lvl="3" marL="0" marR="0" rtl="0" algn="r">
              <a:spcBef>
                <a:spcPts val="0"/>
              </a:spcBef>
              <a:buNone/>
              <a:defRPr b="0" i="0" sz="1200" u="none" cap="none" strike="noStrike">
                <a:solidFill>
                  <a:srgbClr val="888888"/>
                </a:solidFill>
                <a:latin typeface="Instrument Sans"/>
                <a:ea typeface="Instrument Sans"/>
                <a:cs typeface="Instrument Sans"/>
                <a:sym typeface="Instrument Sans"/>
              </a:defRPr>
            </a:lvl4pPr>
            <a:lvl5pPr indent="0" lvl="4" marL="0" marR="0" rtl="0" algn="r">
              <a:spcBef>
                <a:spcPts val="0"/>
              </a:spcBef>
              <a:buNone/>
              <a:defRPr b="0" i="0" sz="1200" u="none" cap="none" strike="noStrike">
                <a:solidFill>
                  <a:srgbClr val="888888"/>
                </a:solidFill>
                <a:latin typeface="Instrument Sans"/>
                <a:ea typeface="Instrument Sans"/>
                <a:cs typeface="Instrument Sans"/>
                <a:sym typeface="Instrument Sans"/>
              </a:defRPr>
            </a:lvl5pPr>
            <a:lvl6pPr indent="0" lvl="5" marL="0" marR="0" rtl="0" algn="r">
              <a:spcBef>
                <a:spcPts val="0"/>
              </a:spcBef>
              <a:buNone/>
              <a:defRPr b="0" i="0" sz="1200" u="none" cap="none" strike="noStrike">
                <a:solidFill>
                  <a:srgbClr val="888888"/>
                </a:solidFill>
                <a:latin typeface="Instrument Sans"/>
                <a:ea typeface="Instrument Sans"/>
                <a:cs typeface="Instrument Sans"/>
                <a:sym typeface="Instrument Sans"/>
              </a:defRPr>
            </a:lvl6pPr>
            <a:lvl7pPr indent="0" lvl="6" marL="0" marR="0" rtl="0" algn="r">
              <a:spcBef>
                <a:spcPts val="0"/>
              </a:spcBef>
              <a:buNone/>
              <a:defRPr b="0" i="0" sz="1200" u="none" cap="none" strike="noStrike">
                <a:solidFill>
                  <a:srgbClr val="888888"/>
                </a:solidFill>
                <a:latin typeface="Instrument Sans"/>
                <a:ea typeface="Instrument Sans"/>
                <a:cs typeface="Instrument Sans"/>
                <a:sym typeface="Instrument Sans"/>
              </a:defRPr>
            </a:lvl7pPr>
            <a:lvl8pPr indent="0" lvl="7" marL="0" marR="0" rtl="0" algn="r">
              <a:spcBef>
                <a:spcPts val="0"/>
              </a:spcBef>
              <a:buNone/>
              <a:defRPr b="0" i="0" sz="1200" u="none" cap="none" strike="noStrike">
                <a:solidFill>
                  <a:srgbClr val="888888"/>
                </a:solidFill>
                <a:latin typeface="Instrument Sans"/>
                <a:ea typeface="Instrument Sans"/>
                <a:cs typeface="Instrument Sans"/>
                <a:sym typeface="Instrument Sans"/>
              </a:defRPr>
            </a:lvl8pPr>
            <a:lvl9pPr indent="0" lvl="8" marL="0" marR="0" rtl="0" algn="r">
              <a:spcBef>
                <a:spcPts val="0"/>
              </a:spcBef>
              <a:buNone/>
              <a:defRPr b="0" i="0" sz="1200" u="none" cap="none" strike="noStrike">
                <a:solidFill>
                  <a:srgbClr val="888888"/>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hyperlink" Target="https://stellar.expert/explorer/testnet/tx/bab36b82ed02d39b364348e9e485b5192acbbc67aad73036ba925df93795de15" TargetMode="External"/><Relationship Id="rId5" Type="http://schemas.openxmlformats.org/officeDocument/2006/relationships/hyperlink" Target="https://passport-pay-stellar.vercel.app/presentacio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hyperlink" Target="https://passport-pay-stellar.vercel.ap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0F0F"/>
        </a:solidFill>
      </p:bgPr>
    </p:bg>
    <p:spTree>
      <p:nvGrpSpPr>
        <p:cNvPr id="83" name="Shape 83"/>
        <p:cNvGrpSpPr/>
        <p:nvPr/>
      </p:nvGrpSpPr>
      <p:grpSpPr>
        <a:xfrm>
          <a:off x="0" y="0"/>
          <a:ext cx="0" cy="0"/>
          <a:chOff x="0" y="0"/>
          <a:chExt cx="0" cy="0"/>
        </a:xfrm>
      </p:grpSpPr>
      <p:sp>
        <p:nvSpPr>
          <p:cNvPr id="84" name="Google Shape;84;p13"/>
          <p:cNvSpPr txBox="1"/>
          <p:nvPr/>
        </p:nvSpPr>
        <p:spPr>
          <a:xfrm>
            <a:off x="914400" y="777240"/>
            <a:ext cx="82296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FFFFFF"/>
                </a:solidFill>
                <a:latin typeface="JetBrains Mono"/>
                <a:ea typeface="JetBrains Mono"/>
                <a:cs typeface="JetBrains Mono"/>
                <a:sym typeface="JetBrains Mono"/>
              </a:rPr>
              <a:t>HACKMERIDIAN 2026 · LISBON</a:t>
            </a:r>
            <a:endParaRPr/>
          </a:p>
        </p:txBody>
      </p:sp>
      <p:sp>
        <p:nvSpPr>
          <p:cNvPr id="85" name="Google Shape;85;p13"/>
          <p:cNvSpPr txBox="1"/>
          <p:nvPr/>
        </p:nvSpPr>
        <p:spPr>
          <a:xfrm>
            <a:off x="10058400" y="777240"/>
            <a:ext cx="731520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400" u="none" cap="none" strike="noStrike">
                <a:solidFill>
                  <a:srgbClr val="FDDA24"/>
                </a:solidFill>
                <a:latin typeface="JetBrains Mono"/>
                <a:ea typeface="JetBrains Mono"/>
                <a:cs typeface="JetBrains Mono"/>
                <a:sym typeface="JetBrains Mono"/>
              </a:rPr>
              <a:t>PLATFORM 01 / 05</a:t>
            </a:r>
            <a:endParaRPr/>
          </a:p>
        </p:txBody>
      </p:sp>
      <p:sp>
        <p:nvSpPr>
          <p:cNvPr id="86" name="Google Shape;86;p13"/>
          <p:cNvSpPr/>
          <p:nvPr/>
        </p:nvSpPr>
        <p:spPr>
          <a:xfrm>
            <a:off x="914400" y="1600200"/>
            <a:ext cx="3291840" cy="475488"/>
          </a:xfrm>
          <a:prstGeom prst="roundRect">
            <a:avLst>
              <a:gd fmla="val 50000" name="adj"/>
            </a:avLst>
          </a:prstGeom>
          <a:noFill/>
          <a:ln cap="flat" cmpd="sng" w="19050">
            <a:solidFill>
              <a:srgbClr val="FDDA2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FDDA24"/>
                </a:solidFill>
                <a:latin typeface="JetBrains Mono"/>
                <a:ea typeface="JetBrains Mono"/>
                <a:cs typeface="JetBrains Mono"/>
                <a:sym typeface="JetBrains Mono"/>
              </a:rPr>
              <a:t>PITCH DECK · MADE TO MOVE</a:t>
            </a:r>
            <a:endParaRPr/>
          </a:p>
        </p:txBody>
      </p:sp>
      <p:sp>
        <p:nvSpPr>
          <p:cNvPr id="87" name="Google Shape;87;p13"/>
          <p:cNvSpPr txBox="1"/>
          <p:nvPr/>
        </p:nvSpPr>
        <p:spPr>
          <a:xfrm>
            <a:off x="914400" y="2514600"/>
            <a:ext cx="10972800" cy="3657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0400" u="none" cap="none" strike="noStrike">
                <a:solidFill>
                  <a:srgbClr val="FDDA24"/>
                </a:solidFill>
                <a:latin typeface="Inter Tight"/>
                <a:ea typeface="Inter Tight"/>
                <a:cs typeface="Inter Tight"/>
                <a:sym typeface="Inter Tight"/>
              </a:rPr>
              <a:t>PASSPORT PAY</a:t>
            </a:r>
            <a:endParaRPr/>
          </a:p>
          <a:p>
            <a:pPr indent="0" lvl="0" marL="0" marR="0" rtl="0" algn="l">
              <a:lnSpc>
                <a:spcPct val="90000"/>
              </a:lnSpc>
              <a:spcBef>
                <a:spcPts val="0"/>
              </a:spcBef>
              <a:spcAft>
                <a:spcPts val="0"/>
              </a:spcAft>
              <a:buNone/>
            </a:pPr>
            <a:r>
              <a:rPr b="0" i="0" lang="en-US" sz="3400" u="none" cap="none" strike="noStrike">
                <a:solidFill>
                  <a:srgbClr val="FFFFFF"/>
                </a:solidFill>
                <a:latin typeface="Inter Tight"/>
                <a:ea typeface="Inter Tight"/>
                <a:cs typeface="Inter Tight"/>
                <a:sym typeface="Inter Tight"/>
              </a:rPr>
              <a:t>Give your agent money. Not the power to drain it.</a:t>
            </a:r>
            <a:endParaRPr/>
          </a:p>
        </p:txBody>
      </p:sp>
      <p:sp>
        <p:nvSpPr>
          <p:cNvPr id="88" name="Google Shape;88;p13"/>
          <p:cNvSpPr/>
          <p:nvPr/>
        </p:nvSpPr>
        <p:spPr>
          <a:xfrm>
            <a:off x="12435840" y="2103120"/>
            <a:ext cx="4937760" cy="2862850"/>
          </a:xfrm>
          <a:custGeom>
            <a:rect b="b" l="l" r="r" t="t"/>
            <a:pathLst>
              <a:path extrusionOk="0" h="2862850" w="4937760">
                <a:moveTo>
                  <a:pt x="0" y="0"/>
                </a:moveTo>
                <a:lnTo>
                  <a:pt x="0" y="1103116"/>
                </a:lnTo>
                <a:lnTo>
                  <a:pt x="2468880" y="2862850"/>
                </a:lnTo>
                <a:lnTo>
                  <a:pt x="4937760" y="1103116"/>
                </a:lnTo>
                <a:lnTo>
                  <a:pt x="4937760" y="0"/>
                </a:lnTo>
                <a:lnTo>
                  <a:pt x="2468880" y="1497086"/>
                </a:lnTo>
                <a:close/>
              </a:path>
            </a:pathLst>
          </a:custGeom>
          <a:solidFill>
            <a:srgbClr val="FDDA24">
              <a:alpha val="2196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89" name="Google Shape;89;p13"/>
          <p:cNvSpPr/>
          <p:nvPr/>
        </p:nvSpPr>
        <p:spPr>
          <a:xfrm>
            <a:off x="12435840" y="4151765"/>
            <a:ext cx="1444557" cy="1785998"/>
          </a:xfrm>
          <a:custGeom>
            <a:rect b="b" l="l" r="r" t="t"/>
            <a:pathLst>
              <a:path extrusionOk="0" h="1785998" w="1444557">
                <a:moveTo>
                  <a:pt x="0" y="0"/>
                </a:moveTo>
                <a:lnTo>
                  <a:pt x="0" y="1785998"/>
                </a:lnTo>
                <a:lnTo>
                  <a:pt x="1444557" y="866734"/>
                </a:lnTo>
                <a:close/>
              </a:path>
            </a:pathLst>
          </a:custGeom>
          <a:solidFill>
            <a:srgbClr val="FDDA24">
              <a:alpha val="2196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90" name="Google Shape;90;p13"/>
          <p:cNvSpPr/>
          <p:nvPr/>
        </p:nvSpPr>
        <p:spPr>
          <a:xfrm>
            <a:off x="15929042" y="4151765"/>
            <a:ext cx="1444558" cy="1785998"/>
          </a:xfrm>
          <a:custGeom>
            <a:rect b="b" l="l" r="r" t="t"/>
            <a:pathLst>
              <a:path extrusionOk="0" h="1785998" w="1444558">
                <a:moveTo>
                  <a:pt x="1444558" y="0"/>
                </a:moveTo>
                <a:lnTo>
                  <a:pt x="1444558" y="1785998"/>
                </a:lnTo>
                <a:lnTo>
                  <a:pt x="0" y="866734"/>
                </a:lnTo>
                <a:close/>
              </a:path>
            </a:pathLst>
          </a:custGeom>
          <a:solidFill>
            <a:srgbClr val="FDDA24">
              <a:alpha val="2196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pic>
        <p:nvPicPr>
          <p:cNvPr descr="hm-white.png" id="91" name="Google Shape;91;p13"/>
          <p:cNvPicPr preferRelativeResize="0"/>
          <p:nvPr/>
        </p:nvPicPr>
        <p:blipFill rotWithShape="1">
          <a:blip r:embed="rId3">
            <a:alphaModFix/>
          </a:blip>
          <a:srcRect b="0" l="0" r="0" t="0"/>
          <a:stretch/>
        </p:blipFill>
        <p:spPr>
          <a:xfrm>
            <a:off x="914400" y="6812280"/>
            <a:ext cx="4721192" cy="822960"/>
          </a:xfrm>
          <a:prstGeom prst="rect">
            <a:avLst/>
          </a:prstGeom>
          <a:noFill/>
          <a:ln>
            <a:noFill/>
          </a:ln>
        </p:spPr>
      </p:pic>
      <p:sp>
        <p:nvSpPr>
          <p:cNvPr id="92" name="Google Shape;92;p13"/>
          <p:cNvSpPr/>
          <p:nvPr/>
        </p:nvSpPr>
        <p:spPr>
          <a:xfrm>
            <a:off x="5989320" y="6766560"/>
            <a:ext cx="18288" cy="914400"/>
          </a:xfrm>
          <a:prstGeom prst="rect">
            <a:avLst/>
          </a:prstGeom>
          <a:solidFill>
            <a:srgbClr val="4A4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pic>
        <p:nvPicPr>
          <p:cNvPr descr="guava-white.png" id="93" name="Google Shape;93;p13"/>
          <p:cNvPicPr preferRelativeResize="0"/>
          <p:nvPr/>
        </p:nvPicPr>
        <p:blipFill rotWithShape="1">
          <a:blip r:embed="rId4">
            <a:alphaModFix/>
          </a:blip>
          <a:srcRect b="0" l="0" r="0" t="0"/>
          <a:stretch/>
        </p:blipFill>
        <p:spPr>
          <a:xfrm>
            <a:off x="6355080" y="6967728"/>
            <a:ext cx="2159633" cy="512064"/>
          </a:xfrm>
          <a:prstGeom prst="rect">
            <a:avLst/>
          </a:prstGeom>
          <a:noFill/>
          <a:ln>
            <a:noFill/>
          </a:ln>
        </p:spPr>
      </p:pic>
      <p:pic>
        <p:nvPicPr>
          <p:cNvPr descr="stellar-white.png" id="94" name="Google Shape;94;p13"/>
          <p:cNvPicPr preferRelativeResize="0"/>
          <p:nvPr/>
        </p:nvPicPr>
        <p:blipFill rotWithShape="1">
          <a:blip r:embed="rId5">
            <a:alphaModFix/>
          </a:blip>
          <a:srcRect b="0" l="0" r="0" t="0"/>
          <a:stretch/>
        </p:blipFill>
        <p:spPr>
          <a:xfrm>
            <a:off x="8823960" y="6903720"/>
            <a:ext cx="2483581" cy="621792"/>
          </a:xfrm>
          <a:prstGeom prst="rect">
            <a:avLst/>
          </a:prstGeom>
          <a:noFill/>
          <a:ln>
            <a:noFill/>
          </a:ln>
        </p:spPr>
      </p:pic>
      <p:sp>
        <p:nvSpPr>
          <p:cNvPr id="95" name="Google Shape;95;p13"/>
          <p:cNvSpPr/>
          <p:nvPr/>
        </p:nvSpPr>
        <p:spPr>
          <a:xfrm rot="5400000">
            <a:off x="14904720" y="6858000"/>
            <a:ext cx="731520" cy="731520"/>
          </a:xfrm>
          <a:prstGeom prst="triangle">
            <a:avLst>
              <a:gd fmla="val 50000" name="adj"/>
            </a:avLst>
          </a:prstGeom>
          <a:solidFill>
            <a:srgbClr val="FDDA2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96" name="Google Shape;96;p13"/>
          <p:cNvSpPr/>
          <p:nvPr/>
        </p:nvSpPr>
        <p:spPr>
          <a:xfrm rot="5400000">
            <a:off x="15599664" y="6858000"/>
            <a:ext cx="731520" cy="731520"/>
          </a:xfrm>
          <a:prstGeom prst="triangle">
            <a:avLst>
              <a:gd fmla="val 50000" name="adj"/>
            </a:avLst>
          </a:prstGeom>
          <a:solidFill>
            <a:srgbClr val="FDDA24">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97" name="Google Shape;97;p13"/>
          <p:cNvSpPr/>
          <p:nvPr/>
        </p:nvSpPr>
        <p:spPr>
          <a:xfrm rot="5400000">
            <a:off x="16294608" y="6858000"/>
            <a:ext cx="731520" cy="731520"/>
          </a:xfrm>
          <a:prstGeom prst="triangle">
            <a:avLst>
              <a:gd fmla="val 50000" name="adj"/>
            </a:avLst>
          </a:prstGeom>
          <a:solidFill>
            <a:srgbClr val="FDDA24">
              <a:alpha val="3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98" name="Google Shape;98;p13"/>
          <p:cNvSpPr/>
          <p:nvPr/>
        </p:nvSpPr>
        <p:spPr>
          <a:xfrm>
            <a:off x="914400" y="8641080"/>
            <a:ext cx="16459200" cy="13716"/>
          </a:xfrm>
          <a:prstGeom prst="rect">
            <a:avLst/>
          </a:prstGeom>
          <a:solidFill>
            <a:srgbClr val="3A3A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99" name="Google Shape;99;p13"/>
          <p:cNvSpPr txBox="1"/>
          <p:nvPr/>
        </p:nvSpPr>
        <p:spPr>
          <a:xfrm>
            <a:off x="914400" y="8961120"/>
            <a:ext cx="457200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FFFFFF"/>
                </a:solidFill>
                <a:latin typeface="JetBrains Mono"/>
                <a:ea typeface="JetBrains Mono"/>
                <a:cs typeface="JetBrains Mono"/>
                <a:sym typeface="JetBrains Mono"/>
              </a:rPr>
              <a:t>October 2026</a:t>
            </a:r>
            <a:endParaRPr/>
          </a:p>
        </p:txBody>
      </p:sp>
      <p:sp>
        <p:nvSpPr>
          <p:cNvPr id="100" name="Google Shape;100;p13"/>
          <p:cNvSpPr txBox="1"/>
          <p:nvPr/>
        </p:nvSpPr>
        <p:spPr>
          <a:xfrm>
            <a:off x="6400800" y="8961120"/>
            <a:ext cx="5486400" cy="3657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00" u="none" cap="none" strike="noStrike">
                <a:solidFill>
                  <a:srgbClr val="FDDA24"/>
                </a:solidFill>
                <a:latin typeface="JetBrains Mono"/>
                <a:ea typeface="JetBrains Mono"/>
                <a:cs typeface="JetBrains Mono"/>
                <a:sym typeface="JetBrains Mono"/>
              </a:rPr>
              <a:t>#HackMeridian26</a:t>
            </a:r>
            <a:endParaRPr/>
          </a:p>
        </p:txBody>
      </p:sp>
      <p:sp>
        <p:nvSpPr>
          <p:cNvPr id="101" name="Google Shape;101;p13"/>
          <p:cNvSpPr txBox="1"/>
          <p:nvPr/>
        </p:nvSpPr>
        <p:spPr>
          <a:xfrm>
            <a:off x="11887200" y="8961120"/>
            <a:ext cx="5486400"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400" u="none" cap="none" strike="noStrike">
                <a:solidFill>
                  <a:srgbClr val="A7A7A7"/>
                </a:solidFill>
                <a:latin typeface="JetBrains Mono"/>
                <a:ea typeface="JetBrains Mono"/>
                <a:cs typeface="JetBrains Mono"/>
                <a:sym typeface="JetBrains Mono"/>
              </a:rPr>
              <a:t>© 2026 HackMeridian · Lisbon</a:t>
            </a:r>
            <a:endParaRPr/>
          </a:p>
        </p:txBody>
      </p:sp>
      <p:sp>
        <p:nvSpPr>
          <p:cNvPr id="102" name="TextBox 101"/>
          <p:cNvSpPr txBox="1"/>
          <p:nvPr/>
        </p:nvSpPr>
        <p:spPr>
          <a:xfrm>
            <a:off x="914400" y="6172200"/>
            <a:ext cx="10972800" cy="411480"/>
          </a:xfrm>
          <a:prstGeom prst="rect">
            <a:avLst/>
          </a:prstGeom>
          <a:noFill/>
        </p:spPr>
        <p:txBody>
          <a:bodyPr wrap="square">
            <a:spAutoFit/>
          </a:bodyPr>
          <a:lstStyle/>
          <a:p>
            <a:pPr algn="l"/>
            <a:r>
              <a:rPr sz="1500" b="0">
                <a:solidFill>
                  <a:srgbClr val="FDDA24"/>
                </a:solidFill>
                <a:latin typeface="JetBrains Mono"/>
              </a:rPr>
              <a:t>GENESIS · STELLAR COMPOSED · passport-pay-stellar.vercel.app</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05" name="Shape 105"/>
        <p:cNvGrpSpPr/>
        <p:nvPr/>
      </p:nvGrpSpPr>
      <p:grpSpPr>
        <a:xfrm>
          <a:off x="0" y="0"/>
          <a:ext cx="0" cy="0"/>
          <a:chOff x="0" y="0"/>
          <a:chExt cx="0" cy="0"/>
        </a:xfrm>
      </p:grpSpPr>
      <p:sp>
        <p:nvSpPr>
          <p:cNvPr id="106" name="Google Shape;106;p14"/>
          <p:cNvSpPr/>
          <p:nvPr/>
        </p:nvSpPr>
        <p:spPr>
          <a:xfrm>
            <a:off x="0" y="0"/>
            <a:ext cx="18288000" cy="731520"/>
          </a:xfrm>
          <a:prstGeom prst="rect">
            <a:avLst/>
          </a:prstGeom>
          <a:solidFill>
            <a:srgbClr val="0F0F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07" name="Google Shape;107;p14"/>
          <p:cNvSpPr txBox="1"/>
          <p:nvPr/>
        </p:nvSpPr>
        <p:spPr>
          <a:xfrm>
            <a:off x="914400" y="201168"/>
            <a:ext cx="4572000" cy="32918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FDDA24"/>
                </a:solidFill>
                <a:latin typeface="JetBrains Mono"/>
                <a:ea typeface="JetBrains Mono"/>
                <a:cs typeface="JetBrains Mono"/>
                <a:sym typeface="JetBrains Mono"/>
              </a:rPr>
              <a:t>PLATFORM 02 / 05</a:t>
            </a:r>
            <a:endParaRPr/>
          </a:p>
        </p:txBody>
      </p:sp>
      <p:sp>
        <p:nvSpPr>
          <p:cNvPr id="108" name="Google Shape;108;p14"/>
          <p:cNvSpPr txBox="1"/>
          <p:nvPr/>
        </p:nvSpPr>
        <p:spPr>
          <a:xfrm>
            <a:off x="5486400" y="201168"/>
            <a:ext cx="7315200" cy="32918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00" u="none" cap="none" strike="noStrike">
                <a:solidFill>
                  <a:srgbClr val="FFFFFF"/>
                </a:solidFill>
                <a:latin typeface="JetBrains Mono"/>
                <a:ea typeface="JetBrains Mono"/>
                <a:cs typeface="JetBrains Mono"/>
                <a:sym typeface="JetBrains Mono"/>
              </a:rPr>
              <a:t>HACKMERIDIAN 2026 · LISBON</a:t>
            </a:r>
            <a:endParaRPr/>
          </a:p>
        </p:txBody>
      </p:sp>
      <p:sp>
        <p:nvSpPr>
          <p:cNvPr id="109" name="Google Shape;109;p14"/>
          <p:cNvSpPr txBox="1"/>
          <p:nvPr/>
        </p:nvSpPr>
        <p:spPr>
          <a:xfrm>
            <a:off x="12801600" y="201168"/>
            <a:ext cx="4572000" cy="329184"/>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400" u="none" cap="none" strike="noStrike">
                <a:solidFill>
                  <a:srgbClr val="FFFFFF"/>
                </a:solidFill>
                <a:latin typeface="JetBrains Mono"/>
                <a:ea typeface="JetBrains Mono"/>
                <a:cs typeface="JetBrains Mono"/>
                <a:sym typeface="JetBrains Mono"/>
              </a:rPr>
              <a:t>NEXT ▸ PMF</a:t>
            </a:r>
            <a:endParaRPr/>
          </a:p>
        </p:txBody>
      </p:sp>
      <p:sp>
        <p:nvSpPr>
          <p:cNvPr id="110" name="Google Shape;110;p14"/>
          <p:cNvSpPr/>
          <p:nvPr/>
        </p:nvSpPr>
        <p:spPr>
          <a:xfrm>
            <a:off x="914400" y="1417320"/>
            <a:ext cx="2651760" cy="475488"/>
          </a:xfrm>
          <a:prstGeom prst="roundRect">
            <a:avLst>
              <a:gd fmla="val 50000" name="adj"/>
            </a:avLst>
          </a:prstGeom>
          <a:solidFill>
            <a:srgbClr val="FDDA2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F0F0F"/>
                </a:solidFill>
                <a:latin typeface="JetBrains Mono"/>
                <a:ea typeface="JetBrains Mono"/>
                <a:cs typeface="JetBrains Mono"/>
                <a:sym typeface="JetBrains Mono"/>
              </a:rPr>
              <a:t>PITCH STEP 01 / 04</a:t>
            </a:r>
            <a:endParaRPr/>
          </a:p>
        </p:txBody>
      </p:sp>
      <p:sp>
        <p:nvSpPr>
          <p:cNvPr id="111" name="Google Shape;111;p14"/>
          <p:cNvSpPr txBox="1"/>
          <p:nvPr/>
        </p:nvSpPr>
        <p:spPr>
          <a:xfrm>
            <a:off x="914400" y="2103120"/>
            <a:ext cx="16459200" cy="13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0" u="none" cap="none" strike="noStrike">
                <a:solidFill>
                  <a:srgbClr val="0F0F0F"/>
                </a:solidFill>
                <a:latin typeface="Inter Tight"/>
                <a:ea typeface="Inter Tight"/>
                <a:cs typeface="Inter Tight"/>
                <a:sym typeface="Inter Tight"/>
              </a:rPr>
              <a:t>THE SOLUTION</a:t>
            </a:r>
            <a:endParaRPr/>
          </a:p>
        </p:txBody>
      </p:sp>
      <p:sp>
        <p:nvSpPr>
          <p:cNvPr id="112" name="Google Shape;112;p14"/>
          <p:cNvSpPr txBox="1"/>
          <p:nvPr/>
        </p:nvSpPr>
        <p:spPr>
          <a:xfrm>
            <a:off x="914400" y="3931920"/>
            <a:ext cx="109728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rgbClr val="0F0F0F"/>
                </a:solidFill>
                <a:latin typeface="Instrument Sans"/>
                <a:ea typeface="Instrument Sans"/>
                <a:cs typeface="Instrument Sans"/>
                <a:sym typeface="Instrument Sans"/>
              </a:rPr>
              <a:t>The rules live in the agent's smart account.</a:t>
            </a:r>
            <a:endParaRPr/>
          </a:p>
        </p:txBody>
      </p:sp>
      <p:sp>
        <p:nvSpPr>
          <p:cNvPr id="113" name="Google Shape;113;p14"/>
          <p:cNvSpPr txBox="1"/>
          <p:nvPr/>
        </p:nvSpPr>
        <p:spPr>
          <a:xfrm>
            <a:off x="914400" y="4709160"/>
            <a:ext cx="11612880" cy="2103120"/>
          </a:xfrm>
          <a:prstGeom prst="rect">
            <a:avLst/>
          </a:prstGeom>
          <a:noFill/>
          <a:ln>
            <a:noFill/>
          </a:ln>
        </p:spPr>
        <p:txBody>
          <a:bodyPr anchorCtr="0" anchor="t" bIns="0" lIns="0" spcFirstLastPara="1" rIns="0" wrap="square" tIns="0">
            <a:spAutoFit/>
          </a:bodyPr>
          <a:lstStyle/>
          <a:p>
            <a:pPr indent="-411480" lvl="0" marL="411480" marR="0" rtl="0" algn="l">
              <a:spcBef>
                <a:spcPts val="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Agents pay APIs over x402, backed by a ZK human passport.</a:t>
            </a:r>
            <a:endParaRPr/>
          </a:p>
          <a:p>
            <a:pPr indent="-411480" lvl="0" marL="411480" marR="0" rtl="0" algn="l">
              <a:spcBef>
                <a:spcPts val="100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Every payment is checked: payee, cap, revocation.</a:t>
            </a:r>
            <a:endParaRPr/>
          </a:p>
          <a:p>
            <a:pPr indent="-411480" lvl="0" marL="411480" marR="0" rtl="0" algn="l">
              <a:spcBef>
                <a:spcPts val="100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A hijacked agent can sign. Stellar still says no.</a:t>
            </a:r>
            <a:endParaRPr/>
          </a:p>
        </p:txBody>
      </p:sp>
      <p:sp>
        <p:nvSpPr>
          <p:cNvPr id="114" name="Google Shape;114;p14"/>
          <p:cNvSpPr/>
          <p:nvPr/>
        </p:nvSpPr>
        <p:spPr>
          <a:xfrm>
            <a:off x="914400" y="7086600"/>
            <a:ext cx="10789920" cy="1051560"/>
          </a:xfrm>
          <a:prstGeom prst="roundRect">
            <a:avLst>
              <a:gd fmla="val 22000" name="adj"/>
            </a:avLst>
          </a:prstGeom>
          <a:solidFill>
            <a:srgbClr val="FFFFFF"/>
          </a:solidFill>
          <a:ln cap="flat" cmpd="sng" w="38100">
            <a:solidFill>
              <a:srgbClr val="FDDA24"/>
            </a:solidFill>
            <a:prstDash val="solid"/>
            <a:round/>
            <a:headEnd len="sm" w="sm" type="none"/>
            <a:tailEnd len="sm" w="sm" type="none"/>
          </a:ln>
        </p:spPr>
        <p:txBody>
          <a:bodyPr anchorCtr="0" anchor="ctr" bIns="0" lIns="365750" spcFirstLastPara="1" rIns="365750" wrap="square" tIns="0">
            <a:noAutofit/>
          </a:bodyPr>
          <a:lstStyle/>
          <a:p>
            <a:pPr indent="0" lvl="0" marL="0" marR="0" rtl="0" algn="l">
              <a:spcBef>
                <a:spcPts val="0"/>
              </a:spcBef>
              <a:spcAft>
                <a:spcPts val="0"/>
              </a:spcAft>
              <a:buNone/>
            </a:pPr>
            <a:r>
              <a:rPr b="1" i="0" lang="en-US" sz="2400" u="none" cap="none" strike="noStrike">
                <a:solidFill>
                  <a:srgbClr val="0F0F0F"/>
                </a:solidFill>
                <a:latin typeface="Instrument Sans"/>
                <a:ea typeface="Instrument Sans"/>
                <a:cs typeface="Instrument Sans"/>
                <a:sym typeface="Instrument Sans"/>
              </a:rPr>
              <a:t>Why it wins: </a:t>
            </a:r>
            <a:r>
              <a:rPr b="0" i="0" lang="en-US" sz="2400" u="none" cap="none" strike="noStrike">
                <a:solidFill>
                  <a:srgbClr val="0F0F0F"/>
                </a:solidFill>
                <a:latin typeface="Instrument Sans"/>
                <a:ea typeface="Instrument Sans"/>
                <a:cs typeface="Instrument Sans"/>
                <a:sym typeface="Instrument Sans"/>
              </a:rPr>
              <a:t>it works even when the agent itself is compromised.</a:t>
            </a:r>
            <a:endParaRPr/>
          </a:p>
        </p:txBody>
      </p:sp>
      <p:sp>
        <p:nvSpPr>
          <p:cNvPr id="115" name="Google Shape;115;p14"/>
          <p:cNvSpPr/>
          <p:nvPr/>
        </p:nvSpPr>
        <p:spPr>
          <a:xfrm>
            <a:off x="12893040" y="4023360"/>
            <a:ext cx="4480560" cy="2597771"/>
          </a:xfrm>
          <a:custGeom>
            <a:rect b="b" l="l" r="r" t="t"/>
            <a:pathLst>
              <a:path extrusionOk="0" h="2597771" w="4480560">
                <a:moveTo>
                  <a:pt x="0" y="0"/>
                </a:moveTo>
                <a:lnTo>
                  <a:pt x="0" y="1000976"/>
                </a:lnTo>
                <a:lnTo>
                  <a:pt x="2240280" y="2597771"/>
                </a:lnTo>
                <a:lnTo>
                  <a:pt x="4480560" y="1000976"/>
                </a:lnTo>
                <a:lnTo>
                  <a:pt x="4480560" y="0"/>
                </a:lnTo>
                <a:lnTo>
                  <a:pt x="2240280" y="1358467"/>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16" name="Google Shape;116;p14"/>
          <p:cNvSpPr/>
          <p:nvPr/>
        </p:nvSpPr>
        <p:spPr>
          <a:xfrm>
            <a:off x="12893040" y="5882315"/>
            <a:ext cx="1310802" cy="1620628"/>
          </a:xfrm>
          <a:custGeom>
            <a:rect b="b" l="l" r="r" t="t"/>
            <a:pathLst>
              <a:path extrusionOk="0" h="1620628" w="1310802">
                <a:moveTo>
                  <a:pt x="0" y="0"/>
                </a:moveTo>
                <a:lnTo>
                  <a:pt x="0" y="1620628"/>
                </a:lnTo>
                <a:lnTo>
                  <a:pt x="1310802" y="786482"/>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17" name="Google Shape;117;p14"/>
          <p:cNvSpPr/>
          <p:nvPr/>
        </p:nvSpPr>
        <p:spPr>
          <a:xfrm>
            <a:off x="16062797" y="5882315"/>
            <a:ext cx="1310803" cy="1620628"/>
          </a:xfrm>
          <a:custGeom>
            <a:rect b="b" l="l" r="r" t="t"/>
            <a:pathLst>
              <a:path extrusionOk="0" h="1620628" w="1310803">
                <a:moveTo>
                  <a:pt x="1310803" y="0"/>
                </a:moveTo>
                <a:lnTo>
                  <a:pt x="1310803" y="1620628"/>
                </a:lnTo>
                <a:lnTo>
                  <a:pt x="0" y="786482"/>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18" name="Google Shape;118;p14"/>
          <p:cNvSpPr/>
          <p:nvPr/>
        </p:nvSpPr>
        <p:spPr>
          <a:xfrm rot="5400000">
            <a:off x="15133320" y="7498079"/>
            <a:ext cx="502920" cy="502920"/>
          </a:xfrm>
          <a:prstGeom prst="triangle">
            <a:avLst>
              <a:gd fmla="val 50000" name="adj"/>
            </a:avLst>
          </a:prstGeom>
          <a:solidFill>
            <a:srgbClr val="FDDA2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19" name="Google Shape;119;p14"/>
          <p:cNvSpPr/>
          <p:nvPr/>
        </p:nvSpPr>
        <p:spPr>
          <a:xfrm rot="5400000">
            <a:off x="15611094" y="7498079"/>
            <a:ext cx="502920" cy="502920"/>
          </a:xfrm>
          <a:prstGeom prst="triangle">
            <a:avLst>
              <a:gd fmla="val 50000" name="adj"/>
            </a:avLst>
          </a:prstGeom>
          <a:solidFill>
            <a:srgbClr val="FDDA24">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20" name="Google Shape;120;p14"/>
          <p:cNvSpPr/>
          <p:nvPr/>
        </p:nvSpPr>
        <p:spPr>
          <a:xfrm rot="5400000">
            <a:off x="16088867" y="7498079"/>
            <a:ext cx="502920" cy="502920"/>
          </a:xfrm>
          <a:prstGeom prst="triangle">
            <a:avLst>
              <a:gd fmla="val 50000" name="adj"/>
            </a:avLst>
          </a:prstGeom>
          <a:solidFill>
            <a:srgbClr val="FDDA24">
              <a:alpha val="3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21" name="Google Shape;121;p14"/>
          <p:cNvSpPr/>
          <p:nvPr/>
        </p:nvSpPr>
        <p:spPr>
          <a:xfrm>
            <a:off x="914400" y="8915400"/>
            <a:ext cx="16459200" cy="13716"/>
          </a:xfrm>
          <a:prstGeom prst="rect">
            <a:avLst/>
          </a:prstGeom>
          <a:solidFill>
            <a:srgbClr val="DFDD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22" name="Google Shape;122;p14"/>
          <p:cNvSpPr txBox="1"/>
          <p:nvPr/>
        </p:nvSpPr>
        <p:spPr>
          <a:xfrm>
            <a:off x="914400" y="9253728"/>
            <a:ext cx="9144000" cy="32004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C5C5C"/>
                </a:solidFill>
                <a:latin typeface="JetBrains Mono"/>
                <a:ea typeface="JetBrains Mono"/>
                <a:cs typeface="JetBrains Mono"/>
                <a:sym typeface="JetBrains Mono"/>
              </a:rPr>
              <a:t>© 2026 HackMeridian · Lisbon  ·  #HackMeridian26</a:t>
            </a:r>
            <a:endParaRPr/>
          </a:p>
        </p:txBody>
      </p:sp>
      <p:pic>
        <p:nvPicPr>
          <p:cNvPr descr="hm-black.png" id="123" name="Google Shape;123;p14"/>
          <p:cNvPicPr preferRelativeResize="0"/>
          <p:nvPr/>
        </p:nvPicPr>
        <p:blipFill rotWithShape="1">
          <a:blip r:embed="rId3">
            <a:alphaModFix/>
          </a:blip>
          <a:srcRect b="0" l="0" r="0" t="0"/>
          <a:stretch/>
        </p:blipFill>
        <p:spPr>
          <a:xfrm>
            <a:off x="14859000" y="9171432"/>
            <a:ext cx="2517969" cy="438912"/>
          </a:xfrm>
          <a:prstGeom prst="rect">
            <a:avLst/>
          </a:prstGeom>
          <a:noFill/>
          <a:ln>
            <a:noFill/>
          </a:ln>
        </p:spPr>
      </p:pic>
      <p:sp>
        <p:nvSpPr>
          <p:cNvPr id="124" name="Oval 123"/>
          <p:cNvSpPr/>
          <p:nvPr/>
        </p:nvSpPr>
        <p:spPr>
          <a:xfrm rot="20880000">
            <a:off x="13213080" y="3611880"/>
            <a:ext cx="3931920" cy="3931920"/>
          </a:xfrm>
          <a:prstGeom prst="ellipse">
            <a:avLst/>
          </a:prstGeom>
          <a:solidFill>
            <a:srgbClr val="F7F6F2"/>
          </a:solidFill>
          <a:ln w="76200">
            <a:solidFill>
              <a:srgbClr val="C23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C23A1A"/>
                </a:solidFill>
                <a:latin typeface="JetBrains Mono"/>
              </a:rPr>
              <a:t>STELLAR TESTNET</a:t>
            </a:r>
          </a:p>
          <a:p>
            <a:pPr algn="ctr"/>
            <a:r>
              <a:rPr sz="3000" b="1">
                <a:solidFill>
                  <a:srgbClr val="C23A1A"/>
                </a:solidFill>
                <a:latin typeface="Instrument Sans"/>
              </a:rPr>
              <a:t>REJECTED</a:t>
            </a:r>
          </a:p>
          <a:p>
            <a:pPr algn="ctr"/>
            <a:r>
              <a:rPr sz="1500" b="1">
                <a:solidFill>
                  <a:srgbClr val="C23A1A"/>
                </a:solidFill>
                <a:latin typeface="JetBrains Mono"/>
              </a:rPr>
              <a:t>CapExceeded #6</a:t>
            </a:r>
          </a:p>
          <a:p>
            <a:pPr algn="ctr"/>
            <a:r>
              <a:rPr sz="1200" b="0">
                <a:solidFill>
                  <a:srgbClr val="C23A1A"/>
                </a:solidFill>
                <a:latin typeface="JetBrains Mono"/>
                <a:hlinkClick r:id="rId4"/>
              </a:rPr>
              <a:t>tx bab36b82…de15</a:t>
            </a:r>
          </a:p>
        </p:txBody>
      </p:sp>
      <p:sp>
        <p:nvSpPr>
          <p:cNvPr id="125" name="TextBox 124"/>
          <p:cNvSpPr txBox="1"/>
          <p:nvPr/>
        </p:nvSpPr>
        <p:spPr>
          <a:xfrm>
            <a:off x="12710160" y="8092440"/>
            <a:ext cx="4937760" cy="457200"/>
          </a:xfrm>
          <a:prstGeom prst="rect">
            <a:avLst/>
          </a:prstGeom>
          <a:noFill/>
        </p:spPr>
        <p:txBody>
          <a:bodyPr wrap="square">
            <a:spAutoFit/>
          </a:bodyPr>
          <a:lstStyle/>
          <a:p>
            <a:pPr algn="ctr"/>
            <a:r>
              <a:rPr sz="1100" b="0">
                <a:solidFill>
                  <a:srgbClr val="5C5C5C"/>
                </a:solidFill>
                <a:latin typeface="JetBrains Mono"/>
                <a:hlinkClick r:id="rId5"/>
              </a:rPr>
              <a:t>Real FAILED tx on testnet · watch the demo</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27" name="Shape 127"/>
        <p:cNvGrpSpPr/>
        <p:nvPr/>
      </p:nvGrpSpPr>
      <p:grpSpPr>
        <a:xfrm>
          <a:off x="0" y="0"/>
          <a:ext cx="0" cy="0"/>
          <a:chOff x="0" y="0"/>
          <a:chExt cx="0" cy="0"/>
        </a:xfrm>
      </p:grpSpPr>
      <p:sp>
        <p:nvSpPr>
          <p:cNvPr id="128" name="Google Shape;128;p15"/>
          <p:cNvSpPr/>
          <p:nvPr/>
        </p:nvSpPr>
        <p:spPr>
          <a:xfrm>
            <a:off x="0" y="0"/>
            <a:ext cx="18288000" cy="731520"/>
          </a:xfrm>
          <a:prstGeom prst="rect">
            <a:avLst/>
          </a:prstGeom>
          <a:solidFill>
            <a:srgbClr val="0F0F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29" name="Google Shape;129;p15"/>
          <p:cNvSpPr txBox="1"/>
          <p:nvPr/>
        </p:nvSpPr>
        <p:spPr>
          <a:xfrm>
            <a:off x="914400" y="201168"/>
            <a:ext cx="4572000" cy="32918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FDDA24"/>
                </a:solidFill>
                <a:latin typeface="JetBrains Mono"/>
                <a:ea typeface="JetBrains Mono"/>
                <a:cs typeface="JetBrains Mono"/>
                <a:sym typeface="JetBrains Mono"/>
              </a:rPr>
              <a:t>PLATFORM 03 / 05</a:t>
            </a:r>
            <a:endParaRPr/>
          </a:p>
        </p:txBody>
      </p:sp>
      <p:sp>
        <p:nvSpPr>
          <p:cNvPr id="130" name="Google Shape;130;p15"/>
          <p:cNvSpPr txBox="1"/>
          <p:nvPr/>
        </p:nvSpPr>
        <p:spPr>
          <a:xfrm>
            <a:off x="5486400" y="201168"/>
            <a:ext cx="7315200" cy="32918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00" u="none" cap="none" strike="noStrike">
                <a:solidFill>
                  <a:srgbClr val="FFFFFF"/>
                </a:solidFill>
                <a:latin typeface="JetBrains Mono"/>
                <a:ea typeface="JetBrains Mono"/>
                <a:cs typeface="JetBrains Mono"/>
                <a:sym typeface="JetBrains Mono"/>
              </a:rPr>
              <a:t>HACKMERIDIAN 2026 · LISBON</a:t>
            </a:r>
            <a:endParaRPr/>
          </a:p>
        </p:txBody>
      </p:sp>
      <p:sp>
        <p:nvSpPr>
          <p:cNvPr id="131" name="Google Shape;131;p15"/>
          <p:cNvSpPr txBox="1"/>
          <p:nvPr/>
        </p:nvSpPr>
        <p:spPr>
          <a:xfrm>
            <a:off x="12801600" y="201168"/>
            <a:ext cx="4572000" cy="329184"/>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400" u="none" cap="none" strike="noStrike">
                <a:solidFill>
                  <a:srgbClr val="FFFFFF"/>
                </a:solidFill>
                <a:latin typeface="JetBrains Mono"/>
                <a:ea typeface="JetBrains Mono"/>
                <a:cs typeface="JetBrains Mono"/>
                <a:sym typeface="JetBrains Mono"/>
              </a:rPr>
              <a:t>NEXT ▸ TECHNICAL WORKFLOW</a:t>
            </a:r>
            <a:endParaRPr/>
          </a:p>
        </p:txBody>
      </p:sp>
      <p:sp>
        <p:nvSpPr>
          <p:cNvPr id="132" name="Google Shape;132;p15"/>
          <p:cNvSpPr/>
          <p:nvPr/>
        </p:nvSpPr>
        <p:spPr>
          <a:xfrm>
            <a:off x="914400" y="1417320"/>
            <a:ext cx="2651760" cy="475488"/>
          </a:xfrm>
          <a:prstGeom prst="roundRect">
            <a:avLst>
              <a:gd fmla="val 50000" name="adj"/>
            </a:avLst>
          </a:prstGeom>
          <a:solidFill>
            <a:srgbClr val="FDDA2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F0F0F"/>
                </a:solidFill>
                <a:latin typeface="JetBrains Mono"/>
                <a:ea typeface="JetBrains Mono"/>
                <a:cs typeface="JetBrains Mono"/>
                <a:sym typeface="JetBrains Mono"/>
              </a:rPr>
              <a:t>PITCH STEP 02 / 04</a:t>
            </a:r>
            <a:endParaRPr/>
          </a:p>
        </p:txBody>
      </p:sp>
      <p:sp>
        <p:nvSpPr>
          <p:cNvPr id="133" name="Google Shape;133;p15"/>
          <p:cNvSpPr txBox="1"/>
          <p:nvPr/>
        </p:nvSpPr>
        <p:spPr>
          <a:xfrm>
            <a:off x="914400" y="2103120"/>
            <a:ext cx="16459200" cy="13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0" u="none" cap="none" strike="noStrike">
                <a:solidFill>
                  <a:srgbClr val="0F0F0F"/>
                </a:solidFill>
                <a:latin typeface="Inter Tight"/>
                <a:ea typeface="Inter Tight"/>
                <a:cs typeface="Inter Tight"/>
                <a:sym typeface="Inter Tight"/>
              </a:rPr>
              <a:t>PMF</a:t>
            </a:r>
            <a:endParaRPr/>
          </a:p>
        </p:txBody>
      </p:sp>
      <p:sp>
        <p:nvSpPr>
          <p:cNvPr id="134" name="Google Shape;134;p15"/>
          <p:cNvSpPr txBox="1"/>
          <p:nvPr/>
        </p:nvSpPr>
        <p:spPr>
          <a:xfrm>
            <a:off x="914400" y="3931920"/>
            <a:ext cx="109728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rgbClr val="0F0F0F"/>
                </a:solidFill>
                <a:latin typeface="Instrument Sans"/>
                <a:ea typeface="Instrument Sans"/>
                <a:cs typeface="Instrument Sans"/>
                <a:sym typeface="Instrument Sans"/>
              </a:rPr>
              <a:t>Agents with wallets ship now. Injection is the risk.</a:t>
            </a:r>
            <a:endParaRPr/>
          </a:p>
        </p:txBody>
      </p:sp>
      <p:sp>
        <p:nvSpPr>
          <p:cNvPr id="135" name="Google Shape;135;p15"/>
          <p:cNvSpPr txBox="1"/>
          <p:nvPr/>
        </p:nvSpPr>
        <p:spPr>
          <a:xfrm>
            <a:off x="914400" y="4709160"/>
            <a:ext cx="11612880" cy="2103120"/>
          </a:xfrm>
          <a:prstGeom prst="rect">
            <a:avLst/>
          </a:prstGeom>
          <a:noFill/>
          <a:ln>
            <a:noFill/>
          </a:ln>
        </p:spPr>
        <p:txBody>
          <a:bodyPr anchorCtr="0" anchor="t" bIns="0" lIns="0" spcFirstLastPara="1" rIns="0" wrap="square" tIns="0">
            <a:spAutoFit/>
          </a:bodyPr>
          <a:lstStyle/>
          <a:p>
            <a:pPr indent="-411480" lvl="0" marL="411480" marR="0" rtl="0" algn="l">
              <a:spcBef>
                <a:spcPts val="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Owners: babysit every payment, or trust a bypassable cap.</a:t>
            </a:r>
            <a:endParaRPr/>
          </a:p>
          <a:p>
            <a:pPr indent="-411480" lvl="0" marL="411480" marR="0" rtl="0" algn="l">
              <a:spcBef>
                <a:spcPts val="100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Sellers: no free tier for agents without bot farms.</a:t>
            </a:r>
            <a:endParaRPr/>
          </a:p>
          <a:p>
            <a:pPr indent="-411480" lvl="0" marL="411480" marR="0" rtl="0" algn="l">
              <a:spcBef>
                <a:spcPts val="100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Stellar: x402 and MPP are live; bounded authority is missing.</a:t>
            </a:r>
            <a:endParaRPr/>
          </a:p>
        </p:txBody>
      </p:sp>
      <p:sp>
        <p:nvSpPr>
          <p:cNvPr id="136" name="Google Shape;136;p15"/>
          <p:cNvSpPr/>
          <p:nvPr/>
        </p:nvSpPr>
        <p:spPr>
          <a:xfrm>
            <a:off x="914400" y="7086600"/>
            <a:ext cx="10789920" cy="1051560"/>
          </a:xfrm>
          <a:prstGeom prst="roundRect">
            <a:avLst>
              <a:gd fmla="val 22000" name="adj"/>
            </a:avLst>
          </a:prstGeom>
          <a:solidFill>
            <a:srgbClr val="FFFFFF"/>
          </a:solidFill>
          <a:ln cap="flat" cmpd="sng" w="38100">
            <a:solidFill>
              <a:srgbClr val="FDDA24"/>
            </a:solidFill>
            <a:prstDash val="solid"/>
            <a:round/>
            <a:headEnd len="sm" w="sm" type="none"/>
            <a:tailEnd len="sm" w="sm" type="none"/>
          </a:ln>
        </p:spPr>
        <p:txBody>
          <a:bodyPr anchorCtr="0" anchor="ctr" bIns="0" lIns="365750" spcFirstLastPara="1" rIns="365750" wrap="square" tIns="0">
            <a:noAutofit/>
          </a:bodyPr>
          <a:lstStyle/>
          <a:p>
            <a:pPr indent="0" lvl="0" marL="0" marR="0" rtl="0" algn="l">
              <a:spcBef>
                <a:spcPts val="0"/>
              </a:spcBef>
              <a:spcAft>
                <a:spcPts val="0"/>
              </a:spcAft>
              <a:buNone/>
            </a:pPr>
            <a:r>
              <a:rPr b="1" i="0" lang="en-US" sz="2400" u="none" cap="none" strike="noStrike">
                <a:solidFill>
                  <a:srgbClr val="0F0F0F"/>
                </a:solidFill>
                <a:latin typeface="Instrument Sans"/>
                <a:ea typeface="Instrument Sans"/>
                <a:cs typeface="Instrument Sans"/>
                <a:sym typeface="Instrument Sans"/>
              </a:rPr>
              <a:t>Why care: </a:t>
            </a:r>
            <a:r>
              <a:rPr b="0" i="0" lang="en-US" sz="2400" u="none" cap="none" strike="noStrike">
                <a:solidFill>
                  <a:srgbClr val="0F0F0F"/>
                </a:solidFill>
                <a:latin typeface="Instrument Sans"/>
                <a:ea typeface="Instrument Sans"/>
                <a:cs typeface="Instrument Sans"/>
                <a:sym typeface="Instrument Sans"/>
              </a:rPr>
              <a:t>one injected page can drain an agent's wallet.</a:t>
            </a:r>
            <a:endParaRPr/>
          </a:p>
        </p:txBody>
      </p:sp>
      <p:sp>
        <p:nvSpPr>
          <p:cNvPr id="137" name="Google Shape;137;p15"/>
          <p:cNvSpPr/>
          <p:nvPr/>
        </p:nvSpPr>
        <p:spPr>
          <a:xfrm>
            <a:off x="12893040" y="4023360"/>
            <a:ext cx="4480560" cy="2597771"/>
          </a:xfrm>
          <a:custGeom>
            <a:rect b="b" l="l" r="r" t="t"/>
            <a:pathLst>
              <a:path extrusionOk="0" h="2597771" w="4480560">
                <a:moveTo>
                  <a:pt x="0" y="0"/>
                </a:moveTo>
                <a:lnTo>
                  <a:pt x="0" y="1000976"/>
                </a:lnTo>
                <a:lnTo>
                  <a:pt x="2240280" y="2597771"/>
                </a:lnTo>
                <a:lnTo>
                  <a:pt x="4480560" y="1000976"/>
                </a:lnTo>
                <a:lnTo>
                  <a:pt x="4480560" y="0"/>
                </a:lnTo>
                <a:lnTo>
                  <a:pt x="2240280" y="1358467"/>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38" name="Google Shape;138;p15"/>
          <p:cNvSpPr/>
          <p:nvPr/>
        </p:nvSpPr>
        <p:spPr>
          <a:xfrm>
            <a:off x="12893040" y="5882315"/>
            <a:ext cx="1310802" cy="1620628"/>
          </a:xfrm>
          <a:custGeom>
            <a:rect b="b" l="l" r="r" t="t"/>
            <a:pathLst>
              <a:path extrusionOk="0" h="1620628" w="1310802">
                <a:moveTo>
                  <a:pt x="0" y="0"/>
                </a:moveTo>
                <a:lnTo>
                  <a:pt x="0" y="1620628"/>
                </a:lnTo>
                <a:lnTo>
                  <a:pt x="1310802" y="786482"/>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39" name="Google Shape;139;p15"/>
          <p:cNvSpPr/>
          <p:nvPr/>
        </p:nvSpPr>
        <p:spPr>
          <a:xfrm>
            <a:off x="16062797" y="5882315"/>
            <a:ext cx="1310803" cy="1620628"/>
          </a:xfrm>
          <a:custGeom>
            <a:rect b="b" l="l" r="r" t="t"/>
            <a:pathLst>
              <a:path extrusionOk="0" h="1620628" w="1310803">
                <a:moveTo>
                  <a:pt x="1310803" y="0"/>
                </a:moveTo>
                <a:lnTo>
                  <a:pt x="1310803" y="1620628"/>
                </a:lnTo>
                <a:lnTo>
                  <a:pt x="0" y="786482"/>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40" name="Google Shape;140;p15"/>
          <p:cNvSpPr/>
          <p:nvPr/>
        </p:nvSpPr>
        <p:spPr>
          <a:xfrm rot="5400000">
            <a:off x="15133320" y="7498079"/>
            <a:ext cx="502920" cy="502920"/>
          </a:xfrm>
          <a:prstGeom prst="triangle">
            <a:avLst>
              <a:gd fmla="val 50000" name="adj"/>
            </a:avLst>
          </a:prstGeom>
          <a:solidFill>
            <a:srgbClr val="FDDA2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41" name="Google Shape;141;p15"/>
          <p:cNvSpPr/>
          <p:nvPr/>
        </p:nvSpPr>
        <p:spPr>
          <a:xfrm rot="5400000">
            <a:off x="15611094" y="7498079"/>
            <a:ext cx="502920" cy="502920"/>
          </a:xfrm>
          <a:prstGeom prst="triangle">
            <a:avLst>
              <a:gd fmla="val 50000" name="adj"/>
            </a:avLst>
          </a:prstGeom>
          <a:solidFill>
            <a:srgbClr val="FDDA24">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42" name="Google Shape;142;p15"/>
          <p:cNvSpPr/>
          <p:nvPr/>
        </p:nvSpPr>
        <p:spPr>
          <a:xfrm rot="5400000">
            <a:off x="16088867" y="7498079"/>
            <a:ext cx="502920" cy="502920"/>
          </a:xfrm>
          <a:prstGeom prst="triangle">
            <a:avLst>
              <a:gd fmla="val 50000" name="adj"/>
            </a:avLst>
          </a:prstGeom>
          <a:solidFill>
            <a:srgbClr val="FDDA24">
              <a:alpha val="3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43" name="Google Shape;143;p15"/>
          <p:cNvSpPr/>
          <p:nvPr/>
        </p:nvSpPr>
        <p:spPr>
          <a:xfrm>
            <a:off x="914400" y="8915400"/>
            <a:ext cx="16459200" cy="13716"/>
          </a:xfrm>
          <a:prstGeom prst="rect">
            <a:avLst/>
          </a:prstGeom>
          <a:solidFill>
            <a:srgbClr val="DFDD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44" name="Google Shape;144;p15"/>
          <p:cNvSpPr txBox="1"/>
          <p:nvPr/>
        </p:nvSpPr>
        <p:spPr>
          <a:xfrm>
            <a:off x="914400" y="9253728"/>
            <a:ext cx="9144000" cy="32004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C5C5C"/>
                </a:solidFill>
                <a:latin typeface="JetBrains Mono"/>
                <a:ea typeface="JetBrains Mono"/>
                <a:cs typeface="JetBrains Mono"/>
                <a:sym typeface="JetBrains Mono"/>
              </a:rPr>
              <a:t>© 2026 HackMeridian · Lisbon  ·  #HackMeridian26</a:t>
            </a:r>
            <a:endParaRPr/>
          </a:p>
        </p:txBody>
      </p:sp>
      <p:pic>
        <p:nvPicPr>
          <p:cNvPr descr="hm-black.png" id="145" name="Google Shape;145;p15"/>
          <p:cNvPicPr preferRelativeResize="0"/>
          <p:nvPr/>
        </p:nvPicPr>
        <p:blipFill rotWithShape="1">
          <a:blip r:embed="rId3">
            <a:alphaModFix/>
          </a:blip>
          <a:srcRect b="0" l="0" r="0" t="0"/>
          <a:stretch/>
        </p:blipFill>
        <p:spPr>
          <a:xfrm>
            <a:off x="14859000" y="9171432"/>
            <a:ext cx="2517969" cy="4389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49" name="Shape 149"/>
        <p:cNvGrpSpPr/>
        <p:nvPr/>
      </p:nvGrpSpPr>
      <p:grpSpPr>
        <a:xfrm>
          <a:off x="0" y="0"/>
          <a:ext cx="0" cy="0"/>
          <a:chOff x="0" y="0"/>
          <a:chExt cx="0" cy="0"/>
        </a:xfrm>
      </p:grpSpPr>
      <p:sp>
        <p:nvSpPr>
          <p:cNvPr id="150" name="Google Shape;150;p16"/>
          <p:cNvSpPr/>
          <p:nvPr/>
        </p:nvSpPr>
        <p:spPr>
          <a:xfrm>
            <a:off x="0" y="0"/>
            <a:ext cx="18288000" cy="731520"/>
          </a:xfrm>
          <a:prstGeom prst="rect">
            <a:avLst/>
          </a:prstGeom>
          <a:solidFill>
            <a:srgbClr val="0F0F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51" name="Google Shape;151;p16"/>
          <p:cNvSpPr txBox="1"/>
          <p:nvPr/>
        </p:nvSpPr>
        <p:spPr>
          <a:xfrm>
            <a:off x="914400" y="201168"/>
            <a:ext cx="4572000" cy="32918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FDDA24"/>
                </a:solidFill>
                <a:latin typeface="JetBrains Mono"/>
                <a:ea typeface="JetBrains Mono"/>
                <a:cs typeface="JetBrains Mono"/>
                <a:sym typeface="JetBrains Mono"/>
              </a:rPr>
              <a:t>PLATFORM 04 / 05</a:t>
            </a:r>
            <a:endParaRPr/>
          </a:p>
        </p:txBody>
      </p:sp>
      <p:sp>
        <p:nvSpPr>
          <p:cNvPr id="152" name="Google Shape;152;p16"/>
          <p:cNvSpPr txBox="1"/>
          <p:nvPr/>
        </p:nvSpPr>
        <p:spPr>
          <a:xfrm>
            <a:off x="5486400" y="201168"/>
            <a:ext cx="7315200" cy="32918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00" u="none" cap="none" strike="noStrike">
                <a:solidFill>
                  <a:srgbClr val="FFFFFF"/>
                </a:solidFill>
                <a:latin typeface="JetBrains Mono"/>
                <a:ea typeface="JetBrains Mono"/>
                <a:cs typeface="JetBrains Mono"/>
                <a:sym typeface="JetBrains Mono"/>
              </a:rPr>
              <a:t>HACKMERIDIAN 2026 · LISBON</a:t>
            </a:r>
            <a:endParaRPr/>
          </a:p>
        </p:txBody>
      </p:sp>
      <p:sp>
        <p:nvSpPr>
          <p:cNvPr id="153" name="Google Shape;153;p16"/>
          <p:cNvSpPr txBox="1"/>
          <p:nvPr/>
        </p:nvSpPr>
        <p:spPr>
          <a:xfrm>
            <a:off x="12801600" y="201168"/>
            <a:ext cx="4572000" cy="329184"/>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400" u="none" cap="none" strike="noStrike">
                <a:solidFill>
                  <a:srgbClr val="FFFFFF"/>
                </a:solidFill>
                <a:latin typeface="JetBrains Mono"/>
                <a:ea typeface="JetBrains Mono"/>
                <a:cs typeface="JetBrains Mono"/>
                <a:sym typeface="JetBrains Mono"/>
              </a:rPr>
              <a:t>NEXT ▸ THE TEAM</a:t>
            </a:r>
            <a:endParaRPr/>
          </a:p>
        </p:txBody>
      </p:sp>
      <p:sp>
        <p:nvSpPr>
          <p:cNvPr id="154" name="Google Shape;154;p16"/>
          <p:cNvSpPr/>
          <p:nvPr/>
        </p:nvSpPr>
        <p:spPr>
          <a:xfrm>
            <a:off x="914400" y="1417320"/>
            <a:ext cx="2651760" cy="475488"/>
          </a:xfrm>
          <a:prstGeom prst="roundRect">
            <a:avLst>
              <a:gd fmla="val 50000" name="adj"/>
            </a:avLst>
          </a:prstGeom>
          <a:solidFill>
            <a:srgbClr val="FDDA2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F0F0F"/>
                </a:solidFill>
                <a:latin typeface="JetBrains Mono"/>
                <a:ea typeface="JetBrains Mono"/>
                <a:cs typeface="JetBrains Mono"/>
                <a:sym typeface="JetBrains Mono"/>
              </a:rPr>
              <a:t>PITCH STEP 03 / 04</a:t>
            </a:r>
            <a:endParaRPr/>
          </a:p>
        </p:txBody>
      </p:sp>
      <p:sp>
        <p:nvSpPr>
          <p:cNvPr id="155" name="Google Shape;155;p16"/>
          <p:cNvSpPr txBox="1"/>
          <p:nvPr/>
        </p:nvSpPr>
        <p:spPr>
          <a:xfrm>
            <a:off x="914400" y="2103120"/>
            <a:ext cx="16459200" cy="13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0" u="none" cap="none" strike="noStrike">
                <a:solidFill>
                  <a:srgbClr val="0F0F0F"/>
                </a:solidFill>
                <a:latin typeface="Inter Tight"/>
                <a:ea typeface="Inter Tight"/>
                <a:cs typeface="Inter Tight"/>
                <a:sym typeface="Inter Tight"/>
              </a:rPr>
              <a:t>WORKFLOW</a:t>
            </a:r>
            <a:endParaRPr/>
          </a:p>
        </p:txBody>
      </p:sp>
      <p:sp>
        <p:nvSpPr>
          <p:cNvPr id="156" name="Google Shape;156;p16"/>
          <p:cNvSpPr txBox="1"/>
          <p:nvPr/>
        </p:nvSpPr>
        <p:spPr>
          <a:xfrm>
            <a:off x="914400" y="3931920"/>
            <a:ext cx="109728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rgbClr val="0F0F0F"/>
                </a:solidFill>
                <a:latin typeface="Instrument Sans"/>
                <a:ea typeface="Instrument Sans"/>
                <a:cs typeface="Instrument Sans"/>
                <a:sym typeface="Instrument Sans"/>
              </a:rPr>
              <a:t>Prove. Bind. Enforce. Official x402 facilitator.</a:t>
            </a:r>
            <a:endParaRPr/>
          </a:p>
        </p:txBody>
      </p:sp>
      <p:sp>
        <p:nvSpPr>
          <p:cNvPr id="157" name="Google Shape;157;p16"/>
          <p:cNvSpPr txBox="1"/>
          <p:nvPr/>
        </p:nvSpPr>
        <p:spPr>
          <a:xfrm>
            <a:off x="914400" y="4709160"/>
            <a:ext cx="11612880" cy="2103120"/>
          </a:xfrm>
          <a:prstGeom prst="rect">
            <a:avLst/>
          </a:prstGeom>
          <a:noFill/>
          <a:ln>
            <a:noFill/>
          </a:ln>
        </p:spPr>
        <p:txBody>
          <a:bodyPr anchorCtr="0" anchor="t" bIns="0" lIns="0" spcFirstLastPara="1" rIns="0" wrap="square" tIns="0">
            <a:spAutoFit/>
          </a:bodyPr>
          <a:lstStyle/>
          <a:p>
            <a:pPr indent="-411480" lvl="0" marL="411480" marR="0" rtl="0" algn="l">
              <a:spcBef>
                <a:spcPts val="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Prove: ZK passport in the browser, verified on BN254.</a:t>
            </a:r>
            <a:endParaRPr/>
          </a:p>
          <a:p>
            <a:pPr indent="-411480" lvl="0" marL="411480" marR="0" rtl="0" algn="l">
              <a:spcBef>
                <a:spcPts val="100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Bind: the factory deploys the agent's account in one tx.</a:t>
            </a:r>
            <a:endParaRPr/>
          </a:p>
          <a:p>
            <a:pPr indent="-411480" lvl="0" marL="411480" marR="0" rtl="0" algn="l">
              <a:spcBef>
                <a:spcPts val="100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Enforce: __check_auth on every USDC transfer.</a:t>
            </a:r>
            <a:endParaRPr/>
          </a:p>
        </p:txBody>
      </p:sp>
      <p:sp>
        <p:nvSpPr>
          <p:cNvPr id="158" name="Google Shape;158;p16"/>
          <p:cNvSpPr/>
          <p:nvPr/>
        </p:nvSpPr>
        <p:spPr>
          <a:xfrm>
            <a:off x="914400" y="7086600"/>
            <a:ext cx="10789920" cy="1051560"/>
          </a:xfrm>
          <a:prstGeom prst="roundRect">
            <a:avLst>
              <a:gd fmla="val 22000" name="adj"/>
            </a:avLst>
          </a:prstGeom>
          <a:solidFill>
            <a:srgbClr val="FFFFFF"/>
          </a:solidFill>
          <a:ln cap="flat" cmpd="sng" w="38100">
            <a:solidFill>
              <a:srgbClr val="FDDA24"/>
            </a:solidFill>
            <a:prstDash val="solid"/>
            <a:round/>
            <a:headEnd len="sm" w="sm" type="none"/>
            <a:tailEnd len="sm" w="sm" type="none"/>
          </a:ln>
        </p:spPr>
        <p:txBody>
          <a:bodyPr anchorCtr="0" anchor="ctr" bIns="0" lIns="365750" spcFirstLastPara="1" rIns="365750" wrap="square" tIns="0">
            <a:noAutofit/>
          </a:bodyPr>
          <a:lstStyle/>
          <a:p>
            <a:pPr indent="0" lvl="0" marL="0" marR="0" rtl="0" algn="l">
              <a:spcBef>
                <a:spcPts val="0"/>
              </a:spcBef>
              <a:spcAft>
                <a:spcPts val="0"/>
              </a:spcAft>
              <a:buNone/>
            </a:pPr>
            <a:r>
              <a:rPr b="1" i="0" lang="en-US" sz="2400" u="none" cap="none" strike="noStrike">
                <a:solidFill>
                  <a:srgbClr val="0F0F0F"/>
                </a:solidFill>
                <a:latin typeface="Instrument Sans"/>
                <a:ea typeface="Instrument Sans"/>
                <a:cs typeface="Instrument Sans"/>
                <a:sym typeface="Instrument Sans"/>
              </a:rPr>
              <a:t>Why it works: </a:t>
            </a:r>
            <a:r>
              <a:rPr b="0" i="0" lang="en-US" sz="2400" u="none" cap="none" strike="noStrike">
                <a:solidFill>
                  <a:srgbClr val="0F0F0F"/>
                </a:solidFill>
                <a:latin typeface="Instrument Sans"/>
                <a:ea typeface="Instrument Sans"/>
                <a:cs typeface="Instrument Sans"/>
                <a:sym typeface="Instrument Sans"/>
              </a:rPr>
              <a:t>live on testnet, 40+ contract tests, public demo.</a:t>
            </a:r>
            <a:endParaRPr/>
          </a:p>
        </p:txBody>
      </p:sp>
      <p:sp>
        <p:nvSpPr>
          <p:cNvPr id="159" name="Google Shape;159;p16"/>
          <p:cNvSpPr/>
          <p:nvPr/>
        </p:nvSpPr>
        <p:spPr>
          <a:xfrm>
            <a:off x="12893040" y="4023360"/>
            <a:ext cx="4480560" cy="2597771"/>
          </a:xfrm>
          <a:custGeom>
            <a:rect b="b" l="l" r="r" t="t"/>
            <a:pathLst>
              <a:path extrusionOk="0" h="2597771" w="4480560">
                <a:moveTo>
                  <a:pt x="0" y="0"/>
                </a:moveTo>
                <a:lnTo>
                  <a:pt x="0" y="1000976"/>
                </a:lnTo>
                <a:lnTo>
                  <a:pt x="2240280" y="2597771"/>
                </a:lnTo>
                <a:lnTo>
                  <a:pt x="4480560" y="1000976"/>
                </a:lnTo>
                <a:lnTo>
                  <a:pt x="4480560" y="0"/>
                </a:lnTo>
                <a:lnTo>
                  <a:pt x="2240280" y="1358467"/>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60" name="Google Shape;160;p16"/>
          <p:cNvSpPr/>
          <p:nvPr/>
        </p:nvSpPr>
        <p:spPr>
          <a:xfrm>
            <a:off x="12893040" y="5882315"/>
            <a:ext cx="1310802" cy="1620628"/>
          </a:xfrm>
          <a:custGeom>
            <a:rect b="b" l="l" r="r" t="t"/>
            <a:pathLst>
              <a:path extrusionOk="0" h="1620628" w="1310802">
                <a:moveTo>
                  <a:pt x="0" y="0"/>
                </a:moveTo>
                <a:lnTo>
                  <a:pt x="0" y="1620628"/>
                </a:lnTo>
                <a:lnTo>
                  <a:pt x="1310802" y="786482"/>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61" name="Google Shape;161;p16"/>
          <p:cNvSpPr/>
          <p:nvPr/>
        </p:nvSpPr>
        <p:spPr>
          <a:xfrm>
            <a:off x="16062797" y="5882315"/>
            <a:ext cx="1310803" cy="1620628"/>
          </a:xfrm>
          <a:custGeom>
            <a:rect b="b" l="l" r="r" t="t"/>
            <a:pathLst>
              <a:path extrusionOk="0" h="1620628" w="1310803">
                <a:moveTo>
                  <a:pt x="1310803" y="0"/>
                </a:moveTo>
                <a:lnTo>
                  <a:pt x="1310803" y="1620628"/>
                </a:lnTo>
                <a:lnTo>
                  <a:pt x="0" y="786482"/>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62" name="Google Shape;162;p16"/>
          <p:cNvSpPr/>
          <p:nvPr/>
        </p:nvSpPr>
        <p:spPr>
          <a:xfrm rot="5400000">
            <a:off x="15133320" y="7498079"/>
            <a:ext cx="502920" cy="502920"/>
          </a:xfrm>
          <a:prstGeom prst="triangle">
            <a:avLst>
              <a:gd fmla="val 50000" name="adj"/>
            </a:avLst>
          </a:prstGeom>
          <a:solidFill>
            <a:srgbClr val="FDDA2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63" name="Google Shape;163;p16"/>
          <p:cNvSpPr/>
          <p:nvPr/>
        </p:nvSpPr>
        <p:spPr>
          <a:xfrm rot="5400000">
            <a:off x="15611094" y="7498079"/>
            <a:ext cx="502920" cy="502920"/>
          </a:xfrm>
          <a:prstGeom prst="triangle">
            <a:avLst>
              <a:gd fmla="val 50000" name="adj"/>
            </a:avLst>
          </a:prstGeom>
          <a:solidFill>
            <a:srgbClr val="FDDA24">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64" name="Google Shape;164;p16"/>
          <p:cNvSpPr/>
          <p:nvPr/>
        </p:nvSpPr>
        <p:spPr>
          <a:xfrm rot="5400000">
            <a:off x="16088867" y="7498079"/>
            <a:ext cx="502920" cy="502920"/>
          </a:xfrm>
          <a:prstGeom prst="triangle">
            <a:avLst>
              <a:gd fmla="val 50000" name="adj"/>
            </a:avLst>
          </a:prstGeom>
          <a:solidFill>
            <a:srgbClr val="FDDA24">
              <a:alpha val="3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65" name="Google Shape;165;p16"/>
          <p:cNvSpPr/>
          <p:nvPr/>
        </p:nvSpPr>
        <p:spPr>
          <a:xfrm>
            <a:off x="914400" y="8915400"/>
            <a:ext cx="16459200" cy="13716"/>
          </a:xfrm>
          <a:prstGeom prst="rect">
            <a:avLst/>
          </a:prstGeom>
          <a:solidFill>
            <a:srgbClr val="DFDD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66" name="Google Shape;166;p16"/>
          <p:cNvSpPr txBox="1"/>
          <p:nvPr/>
        </p:nvSpPr>
        <p:spPr>
          <a:xfrm>
            <a:off x="914400" y="9253728"/>
            <a:ext cx="9144000" cy="32004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C5C5C"/>
                </a:solidFill>
                <a:latin typeface="JetBrains Mono"/>
                <a:ea typeface="JetBrains Mono"/>
                <a:cs typeface="JetBrains Mono"/>
                <a:sym typeface="JetBrains Mono"/>
              </a:rPr>
              <a:t>© 2026 HackMeridian · Lisbon  ·  #HackMeridian26</a:t>
            </a:r>
            <a:endParaRPr/>
          </a:p>
        </p:txBody>
      </p:sp>
      <p:pic>
        <p:nvPicPr>
          <p:cNvPr descr="hm-black.png" id="167" name="Google Shape;167;p16"/>
          <p:cNvPicPr preferRelativeResize="0"/>
          <p:nvPr/>
        </p:nvPicPr>
        <p:blipFill rotWithShape="1">
          <a:blip r:embed="rId3">
            <a:alphaModFix/>
          </a:blip>
          <a:srcRect b="0" l="0" r="0" t="0"/>
          <a:stretch/>
        </p:blipFill>
        <p:spPr>
          <a:xfrm>
            <a:off x="14859000" y="9171432"/>
            <a:ext cx="2517969" cy="438912"/>
          </a:xfrm>
          <a:prstGeom prst="rect">
            <a:avLst/>
          </a:prstGeom>
          <a:noFill/>
          <a:ln>
            <a:noFill/>
          </a:ln>
        </p:spPr>
      </p:pic>
      <p:sp>
        <p:nvSpPr>
          <p:cNvPr id="168" name="Rounded Rectangle 167"/>
          <p:cNvSpPr/>
          <p:nvPr/>
        </p:nvSpPr>
        <p:spPr>
          <a:xfrm>
            <a:off x="12984480" y="3611880"/>
            <a:ext cx="4389120" cy="786384"/>
          </a:xfrm>
          <a:prstGeom prst="round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DDA24"/>
                </a:solidFill>
                <a:latin typeface="JetBrains Mono"/>
              </a:rPr>
              <a:t>OWNER</a:t>
            </a:r>
          </a:p>
          <a:p>
            <a:pPr algn="ctr"/>
            <a:r>
              <a:rPr sz="1300" b="0">
                <a:solidFill>
                  <a:srgbClr val="FDDA24"/>
                </a:solidFill>
                <a:latin typeface="Inter Tight"/>
              </a:rPr>
              <a:t>ZK passport in the browser</a:t>
            </a:r>
          </a:p>
        </p:txBody>
      </p:sp>
      <p:sp>
        <p:nvSpPr>
          <p:cNvPr id="169" name="TextBox 168"/>
          <p:cNvSpPr txBox="1"/>
          <p:nvPr/>
        </p:nvSpPr>
        <p:spPr>
          <a:xfrm>
            <a:off x="14950440" y="4361688"/>
            <a:ext cx="457200" cy="274320"/>
          </a:xfrm>
          <a:prstGeom prst="rect">
            <a:avLst/>
          </a:prstGeom>
          <a:noFill/>
        </p:spPr>
        <p:txBody>
          <a:bodyPr wrap="square">
            <a:spAutoFit/>
          </a:bodyPr>
          <a:lstStyle/>
          <a:p>
            <a:pPr algn="ctr"/>
            <a:r>
              <a:rPr sz="1200" b="0">
                <a:solidFill>
                  <a:srgbClr val="2A2A2A"/>
                </a:solidFill>
                <a:latin typeface="JetBrains Mono"/>
              </a:rPr>
              <a:t>▼</a:t>
            </a:r>
          </a:p>
        </p:txBody>
      </p:sp>
      <p:sp>
        <p:nvSpPr>
          <p:cNvPr id="170" name="Rounded Rectangle 169"/>
          <p:cNvSpPr/>
          <p:nvPr/>
        </p:nvSpPr>
        <p:spPr>
          <a:xfrm>
            <a:off x="12984480" y="4654296"/>
            <a:ext cx="4389120" cy="786384"/>
          </a:xfrm>
          <a:prstGeom prst="round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DDA24"/>
                </a:solidFill>
                <a:latin typeface="JetBrains Mono"/>
              </a:rPr>
              <a:t>PASSPORTFACTORY</a:t>
            </a:r>
          </a:p>
          <a:p>
            <a:pPr algn="ctr"/>
            <a:r>
              <a:rPr sz="1300" b="0">
                <a:solidFill>
                  <a:srgbClr val="FDDA24"/>
                </a:solidFill>
                <a:latin typeface="Inter Tight"/>
              </a:rPr>
              <a:t>verify proof + deploy account</a:t>
            </a:r>
          </a:p>
        </p:txBody>
      </p:sp>
      <p:sp>
        <p:nvSpPr>
          <p:cNvPr id="171" name="TextBox 170"/>
          <p:cNvSpPr txBox="1"/>
          <p:nvPr/>
        </p:nvSpPr>
        <p:spPr>
          <a:xfrm>
            <a:off x="14950440" y="5404104"/>
            <a:ext cx="457200" cy="274320"/>
          </a:xfrm>
          <a:prstGeom prst="rect">
            <a:avLst/>
          </a:prstGeom>
          <a:noFill/>
        </p:spPr>
        <p:txBody>
          <a:bodyPr wrap="square">
            <a:spAutoFit/>
          </a:bodyPr>
          <a:lstStyle/>
          <a:p>
            <a:pPr algn="ctr"/>
            <a:r>
              <a:rPr sz="1200" b="0">
                <a:solidFill>
                  <a:srgbClr val="2A2A2A"/>
                </a:solidFill>
                <a:latin typeface="JetBrains Mono"/>
              </a:rPr>
              <a:t>▼</a:t>
            </a:r>
          </a:p>
        </p:txBody>
      </p:sp>
      <p:sp>
        <p:nvSpPr>
          <p:cNvPr id="172" name="Rounded Rectangle 171"/>
          <p:cNvSpPr/>
          <p:nvPr/>
        </p:nvSpPr>
        <p:spPr>
          <a:xfrm>
            <a:off x="12984480" y="5696712"/>
            <a:ext cx="4389120" cy="786384"/>
          </a:xfrm>
          <a:prstGeom prst="roundRect">
            <a:avLst/>
          </a:prstGeom>
          <a:solidFill>
            <a:srgbClr val="FDD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0F0F"/>
                </a:solidFill>
                <a:latin typeface="JetBrains Mono"/>
              </a:rPr>
              <a:t>PASSPORTACCOUNT</a:t>
            </a:r>
          </a:p>
          <a:p>
            <a:pPr algn="ctr"/>
            <a:r>
              <a:rPr sz="1300" b="0">
                <a:solidFill>
                  <a:srgbClr val="0F0F0F"/>
                </a:solidFill>
                <a:latin typeface="Inter Tight"/>
              </a:rPr>
              <a:t>__check_auth on every payment</a:t>
            </a:r>
          </a:p>
        </p:txBody>
      </p:sp>
      <p:sp>
        <p:nvSpPr>
          <p:cNvPr id="173" name="TextBox 172"/>
          <p:cNvSpPr txBox="1"/>
          <p:nvPr/>
        </p:nvSpPr>
        <p:spPr>
          <a:xfrm>
            <a:off x="14950440" y="6446520"/>
            <a:ext cx="457200" cy="274320"/>
          </a:xfrm>
          <a:prstGeom prst="rect">
            <a:avLst/>
          </a:prstGeom>
          <a:noFill/>
        </p:spPr>
        <p:txBody>
          <a:bodyPr wrap="square">
            <a:spAutoFit/>
          </a:bodyPr>
          <a:lstStyle/>
          <a:p>
            <a:pPr algn="ctr"/>
            <a:r>
              <a:rPr sz="1200" b="0">
                <a:solidFill>
                  <a:srgbClr val="2A2A2A"/>
                </a:solidFill>
                <a:latin typeface="JetBrains Mono"/>
              </a:rPr>
              <a:t>▼</a:t>
            </a:r>
          </a:p>
        </p:txBody>
      </p:sp>
      <p:sp>
        <p:nvSpPr>
          <p:cNvPr id="174" name="Rounded Rectangle 173"/>
          <p:cNvSpPr/>
          <p:nvPr/>
        </p:nvSpPr>
        <p:spPr>
          <a:xfrm>
            <a:off x="12984480" y="6739127"/>
            <a:ext cx="4389120" cy="786384"/>
          </a:xfrm>
          <a:prstGeom prst="round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DDA24"/>
                </a:solidFill>
                <a:latin typeface="JetBrains Mono"/>
              </a:rPr>
              <a:t>X402 API</a:t>
            </a:r>
          </a:p>
          <a:p>
            <a:pPr algn="ctr"/>
            <a:r>
              <a:rPr sz="1300" b="0">
                <a:solidFill>
                  <a:srgbClr val="FDDA24"/>
                </a:solidFill>
                <a:latin typeface="Inter Tight"/>
              </a:rPr>
              <a:t>USDC settles, or the ledger refuses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71" name="Shape 171"/>
        <p:cNvGrpSpPr/>
        <p:nvPr/>
      </p:nvGrpSpPr>
      <p:grpSpPr>
        <a:xfrm>
          <a:off x="0" y="0"/>
          <a:ext cx="0" cy="0"/>
          <a:chOff x="0" y="0"/>
          <a:chExt cx="0" cy="0"/>
        </a:xfrm>
      </p:grpSpPr>
      <p:sp>
        <p:nvSpPr>
          <p:cNvPr id="172" name="Google Shape;172;p17"/>
          <p:cNvSpPr/>
          <p:nvPr/>
        </p:nvSpPr>
        <p:spPr>
          <a:xfrm>
            <a:off x="0" y="0"/>
            <a:ext cx="18288000" cy="731520"/>
          </a:xfrm>
          <a:prstGeom prst="rect">
            <a:avLst/>
          </a:prstGeom>
          <a:solidFill>
            <a:srgbClr val="0F0F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73" name="Google Shape;173;p17"/>
          <p:cNvSpPr txBox="1"/>
          <p:nvPr/>
        </p:nvSpPr>
        <p:spPr>
          <a:xfrm>
            <a:off x="914400" y="201168"/>
            <a:ext cx="4572000" cy="32918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FDDA24"/>
                </a:solidFill>
                <a:latin typeface="JetBrains Mono"/>
                <a:ea typeface="JetBrains Mono"/>
                <a:cs typeface="JetBrains Mono"/>
                <a:sym typeface="JetBrains Mono"/>
              </a:rPr>
              <a:t>PLATFORM 05 / 05</a:t>
            </a:r>
            <a:endParaRPr/>
          </a:p>
        </p:txBody>
      </p:sp>
      <p:sp>
        <p:nvSpPr>
          <p:cNvPr id="174" name="Google Shape;174;p17"/>
          <p:cNvSpPr txBox="1"/>
          <p:nvPr/>
        </p:nvSpPr>
        <p:spPr>
          <a:xfrm>
            <a:off x="5486400" y="201168"/>
            <a:ext cx="7315200" cy="32918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00" u="none" cap="none" strike="noStrike">
                <a:solidFill>
                  <a:srgbClr val="FFFFFF"/>
                </a:solidFill>
                <a:latin typeface="JetBrains Mono"/>
                <a:ea typeface="JetBrains Mono"/>
                <a:cs typeface="JetBrains Mono"/>
                <a:sym typeface="JetBrains Mono"/>
              </a:rPr>
              <a:t>HACKMERIDIAN 2026 · LISBON</a:t>
            </a:r>
            <a:endParaRPr/>
          </a:p>
        </p:txBody>
      </p:sp>
      <p:sp>
        <p:nvSpPr>
          <p:cNvPr id="175" name="Google Shape;175;p17"/>
          <p:cNvSpPr txBox="1"/>
          <p:nvPr/>
        </p:nvSpPr>
        <p:spPr>
          <a:xfrm>
            <a:off x="12801600" y="201168"/>
            <a:ext cx="4572000" cy="329184"/>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400" u="none" cap="none" strike="noStrike">
                <a:solidFill>
                  <a:srgbClr val="FFFFFF"/>
                </a:solidFill>
                <a:latin typeface="JetBrains Mono"/>
                <a:ea typeface="JetBrains Mono"/>
                <a:cs typeface="JetBrains Mono"/>
                <a:sym typeface="JetBrains Mono"/>
              </a:rPr>
              <a:t>FINAL STOP</a:t>
            </a:r>
            <a:endParaRPr/>
          </a:p>
        </p:txBody>
      </p:sp>
      <p:sp>
        <p:nvSpPr>
          <p:cNvPr id="176" name="Google Shape;176;p17"/>
          <p:cNvSpPr/>
          <p:nvPr/>
        </p:nvSpPr>
        <p:spPr>
          <a:xfrm>
            <a:off x="914400" y="1417320"/>
            <a:ext cx="2651760" cy="475488"/>
          </a:xfrm>
          <a:prstGeom prst="roundRect">
            <a:avLst>
              <a:gd fmla="val 50000" name="adj"/>
            </a:avLst>
          </a:prstGeom>
          <a:solidFill>
            <a:srgbClr val="FDDA2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F0F0F"/>
                </a:solidFill>
                <a:latin typeface="JetBrains Mono"/>
                <a:ea typeface="JetBrains Mono"/>
                <a:cs typeface="JetBrains Mono"/>
                <a:sym typeface="JetBrains Mono"/>
              </a:rPr>
              <a:t>PITCH STEP 04 / 04</a:t>
            </a:r>
            <a:endParaRPr/>
          </a:p>
        </p:txBody>
      </p:sp>
      <p:sp>
        <p:nvSpPr>
          <p:cNvPr id="177" name="Google Shape;177;p17"/>
          <p:cNvSpPr txBox="1"/>
          <p:nvPr/>
        </p:nvSpPr>
        <p:spPr>
          <a:xfrm>
            <a:off x="914400" y="2103120"/>
            <a:ext cx="16459200" cy="13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0" u="none" cap="none" strike="noStrike">
                <a:solidFill>
                  <a:srgbClr val="0F0F0F"/>
                </a:solidFill>
                <a:latin typeface="Inter Tight"/>
                <a:ea typeface="Inter Tight"/>
                <a:cs typeface="Inter Tight"/>
                <a:sym typeface="Inter Tight"/>
              </a:rPr>
              <a:t>THE TEAM</a:t>
            </a:r>
            <a:endParaRPr/>
          </a:p>
        </p:txBody>
      </p:sp>
      <p:sp>
        <p:nvSpPr>
          <p:cNvPr id="178" name="Google Shape;178;p17"/>
          <p:cNvSpPr txBox="1"/>
          <p:nvPr/>
        </p:nvSpPr>
        <p:spPr>
          <a:xfrm>
            <a:off x="914400" y="3931920"/>
            <a:ext cx="109728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rgbClr val="0F0F0F"/>
                </a:solidFill>
                <a:latin typeface="Instrument Sans"/>
                <a:ea typeface="Instrument Sans"/>
                <a:cs typeface="Instrument Sans"/>
                <a:sym typeface="Instrument Sans"/>
              </a:rPr>
              <a:t>Rooted in the Stellar community in Buenos Aires.</a:t>
            </a:r>
            <a:endParaRPr/>
          </a:p>
        </p:txBody>
      </p:sp>
      <p:sp>
        <p:nvSpPr>
          <p:cNvPr id="179" name="Google Shape;179;p17"/>
          <p:cNvSpPr txBox="1"/>
          <p:nvPr/>
        </p:nvSpPr>
        <p:spPr>
          <a:xfrm>
            <a:off x="914400" y="4709160"/>
            <a:ext cx="11612880" cy="2103120"/>
          </a:xfrm>
          <a:prstGeom prst="rect">
            <a:avLst/>
          </a:prstGeom>
          <a:noFill/>
          <a:ln>
            <a:noFill/>
          </a:ln>
        </p:spPr>
        <p:txBody>
          <a:bodyPr anchorCtr="0" anchor="t" bIns="0" lIns="0" spcFirstLastPara="1" rIns="0" wrap="square" tIns="0">
            <a:spAutoFit/>
          </a:bodyPr>
          <a:lstStyle/>
          <a:p>
            <a:pPr indent="-411480" lvl="0" marL="411480" marR="0" rtl="0" algn="l">
              <a:spcBef>
                <a:spcPts val="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Lucas Cariddi · Marketing and growth</a:t>
            </a:r>
            <a:endParaRPr/>
          </a:p>
          <a:p>
            <a:pPr indent="-411480" lvl="0" marL="411480" marR="0" rtl="0" algn="l">
              <a:spcBef>
                <a:spcPts val="100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Stellar Ambassador, Stellar events in Buenos Aires.</a:t>
            </a:r>
            <a:endParaRPr/>
          </a:p>
          <a:p>
            <a:pPr indent="-411480" lvl="0" marL="411480" marR="0" rtl="0" algn="l">
              <a:spcBef>
                <a:spcPts val="1000"/>
              </a:spcBef>
              <a:spcAft>
                <a:spcPts val="0"/>
              </a:spcAft>
              <a:buClr>
                <a:srgbClr val="0F0F0F"/>
              </a:buClr>
              <a:buSzPts val="2400"/>
              <a:buFont typeface="Arial"/>
              <a:buChar char="►"/>
            </a:pPr>
            <a:r>
              <a:rPr b="0" i="0" lang="en-US" sz="2400" u="none" cap="none" strike="noStrike">
                <a:solidFill>
                  <a:srgbClr val="2A2A2A"/>
                </a:solidFill>
                <a:latin typeface="Instrument Sans"/>
                <a:ea typeface="Instrument Sans"/>
                <a:cs typeface="Instrument Sans"/>
                <a:sym typeface="Instrument Sans"/>
              </a:rPr>
              <a:t>Crypto and AI (Compoze Labs, Bitget). UTN FRBA.</a:t>
            </a:r>
            <a:endParaRPr/>
          </a:p>
        </p:txBody>
      </p:sp>
      <p:sp>
        <p:nvSpPr>
          <p:cNvPr id="180" name="Google Shape;180;p17"/>
          <p:cNvSpPr/>
          <p:nvPr/>
        </p:nvSpPr>
        <p:spPr>
          <a:xfrm>
            <a:off x="914400" y="7086600"/>
            <a:ext cx="10789920" cy="1051560"/>
          </a:xfrm>
          <a:prstGeom prst="roundRect">
            <a:avLst>
              <a:gd fmla="val 22000" name="adj"/>
            </a:avLst>
          </a:prstGeom>
          <a:solidFill>
            <a:srgbClr val="FFFFFF"/>
          </a:solidFill>
          <a:ln cap="flat" cmpd="sng" w="38100">
            <a:solidFill>
              <a:srgbClr val="FDDA24"/>
            </a:solidFill>
            <a:prstDash val="solid"/>
            <a:round/>
            <a:headEnd len="sm" w="sm" type="none"/>
            <a:tailEnd len="sm" w="sm" type="none"/>
          </a:ln>
        </p:spPr>
        <p:txBody>
          <a:bodyPr anchorCtr="0" anchor="ctr" bIns="0" lIns="365750" spcFirstLastPara="1" rIns="365750" wrap="square" tIns="0">
            <a:noAutofit/>
          </a:bodyPr>
          <a:lstStyle/>
          <a:p>
            <a:pPr indent="0" lvl="0" marL="0" marR="0" rtl="0" algn="l">
              <a:spcBef>
                <a:spcPts val="0"/>
              </a:spcBef>
              <a:spcAft>
                <a:spcPts val="0"/>
              </a:spcAft>
              <a:buNone/>
            </a:pPr>
            <a:r>
              <a:rPr b="1" i="0" lang="en-US" sz="2400" u="none" cap="none" strike="noStrike">
                <a:solidFill>
                  <a:srgbClr val="0F0F0F"/>
                </a:solidFill>
                <a:latin typeface="Instrument Sans"/>
                <a:ea typeface="Instrument Sans"/>
                <a:cs typeface="Instrument Sans"/>
                <a:sym typeface="Instrument Sans"/>
              </a:rPr>
              <a:t>Why us: </a:t>
            </a:r>
            <a:r>
              <a:rPr b="0" i="0" lang="en-US" sz="2400" u="none" cap="none" strike="noStrike">
                <a:solidFill>
                  <a:srgbClr val="0F0F0F"/>
                </a:solidFill>
                <a:latin typeface="Instrument Sans"/>
                <a:ea typeface="Instrument Sans"/>
                <a:cs typeface="Instrument Sans"/>
                <a:sym typeface="Instrument Sans"/>
              </a:rPr>
              <a:t>we live in the Stellar community.</a:t>
            </a:r>
            <a:endParaRPr/>
          </a:p>
        </p:txBody>
      </p:sp>
      <p:sp>
        <p:nvSpPr>
          <p:cNvPr id="181" name="Google Shape;181;p17"/>
          <p:cNvSpPr/>
          <p:nvPr/>
        </p:nvSpPr>
        <p:spPr>
          <a:xfrm>
            <a:off x="12893040" y="4023360"/>
            <a:ext cx="4480560" cy="2597771"/>
          </a:xfrm>
          <a:custGeom>
            <a:rect b="b" l="l" r="r" t="t"/>
            <a:pathLst>
              <a:path extrusionOk="0" h="2597771" w="4480560">
                <a:moveTo>
                  <a:pt x="0" y="0"/>
                </a:moveTo>
                <a:lnTo>
                  <a:pt x="0" y="1000976"/>
                </a:lnTo>
                <a:lnTo>
                  <a:pt x="2240280" y="2597771"/>
                </a:lnTo>
                <a:lnTo>
                  <a:pt x="4480560" y="1000976"/>
                </a:lnTo>
                <a:lnTo>
                  <a:pt x="4480560" y="0"/>
                </a:lnTo>
                <a:lnTo>
                  <a:pt x="2240280" y="1358467"/>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82" name="Google Shape;182;p17"/>
          <p:cNvSpPr/>
          <p:nvPr/>
        </p:nvSpPr>
        <p:spPr>
          <a:xfrm>
            <a:off x="12893040" y="5882315"/>
            <a:ext cx="1310802" cy="1620628"/>
          </a:xfrm>
          <a:custGeom>
            <a:rect b="b" l="l" r="r" t="t"/>
            <a:pathLst>
              <a:path extrusionOk="0" h="1620628" w="1310802">
                <a:moveTo>
                  <a:pt x="0" y="0"/>
                </a:moveTo>
                <a:lnTo>
                  <a:pt x="0" y="1620628"/>
                </a:lnTo>
                <a:lnTo>
                  <a:pt x="1310802" y="786482"/>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83" name="Google Shape;183;p17"/>
          <p:cNvSpPr/>
          <p:nvPr/>
        </p:nvSpPr>
        <p:spPr>
          <a:xfrm>
            <a:off x="16062797" y="5882315"/>
            <a:ext cx="1310803" cy="1620628"/>
          </a:xfrm>
          <a:custGeom>
            <a:rect b="b" l="l" r="r" t="t"/>
            <a:pathLst>
              <a:path extrusionOk="0" h="1620628" w="1310803">
                <a:moveTo>
                  <a:pt x="1310803" y="0"/>
                </a:moveTo>
                <a:lnTo>
                  <a:pt x="1310803" y="1620628"/>
                </a:lnTo>
                <a:lnTo>
                  <a:pt x="0" y="786482"/>
                </a:lnTo>
                <a:close/>
              </a:path>
            </a:pathLst>
          </a:custGeom>
          <a:solidFill>
            <a:srgbClr val="0F0F0F">
              <a:alpha val="705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84" name="Google Shape;184;p17"/>
          <p:cNvSpPr/>
          <p:nvPr/>
        </p:nvSpPr>
        <p:spPr>
          <a:xfrm rot="5400000">
            <a:off x="15133320" y="7498079"/>
            <a:ext cx="502920" cy="502920"/>
          </a:xfrm>
          <a:prstGeom prst="triangle">
            <a:avLst>
              <a:gd fmla="val 50000" name="adj"/>
            </a:avLst>
          </a:prstGeom>
          <a:solidFill>
            <a:srgbClr val="FDDA2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85" name="Google Shape;185;p17"/>
          <p:cNvSpPr/>
          <p:nvPr/>
        </p:nvSpPr>
        <p:spPr>
          <a:xfrm rot="5400000">
            <a:off x="15611094" y="7498079"/>
            <a:ext cx="502920" cy="502920"/>
          </a:xfrm>
          <a:prstGeom prst="triangle">
            <a:avLst>
              <a:gd fmla="val 50000" name="adj"/>
            </a:avLst>
          </a:prstGeom>
          <a:solidFill>
            <a:srgbClr val="FDDA24">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86" name="Google Shape;186;p17"/>
          <p:cNvSpPr/>
          <p:nvPr/>
        </p:nvSpPr>
        <p:spPr>
          <a:xfrm rot="5400000">
            <a:off x="16088867" y="7498079"/>
            <a:ext cx="502920" cy="502920"/>
          </a:xfrm>
          <a:prstGeom prst="triangle">
            <a:avLst>
              <a:gd fmla="val 50000" name="adj"/>
            </a:avLst>
          </a:prstGeom>
          <a:solidFill>
            <a:srgbClr val="FDDA24">
              <a:alpha val="3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87" name="Google Shape;187;p17"/>
          <p:cNvSpPr/>
          <p:nvPr/>
        </p:nvSpPr>
        <p:spPr>
          <a:xfrm>
            <a:off x="914400" y="8915400"/>
            <a:ext cx="16459200" cy="13716"/>
          </a:xfrm>
          <a:prstGeom prst="rect">
            <a:avLst/>
          </a:prstGeom>
          <a:solidFill>
            <a:srgbClr val="DFDD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nstrument Sans"/>
              <a:ea typeface="Instrument Sans"/>
              <a:cs typeface="Instrument Sans"/>
              <a:sym typeface="Instrument Sans"/>
            </a:endParaRPr>
          </a:p>
        </p:txBody>
      </p:sp>
      <p:sp>
        <p:nvSpPr>
          <p:cNvPr id="188" name="Google Shape;188;p17"/>
          <p:cNvSpPr txBox="1"/>
          <p:nvPr/>
        </p:nvSpPr>
        <p:spPr>
          <a:xfrm>
            <a:off x="914400" y="9253728"/>
            <a:ext cx="9144000" cy="32004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C5C5C"/>
                </a:solidFill>
                <a:latin typeface="JetBrains Mono"/>
                <a:ea typeface="JetBrains Mono"/>
                <a:cs typeface="JetBrains Mono"/>
                <a:sym typeface="JetBrains Mono"/>
              </a:rPr>
              <a:t>© 2026 HackMeridian · Lisbon  ·  #HackMeridian26</a:t>
            </a:r>
            <a:endParaRPr/>
          </a:p>
        </p:txBody>
      </p:sp>
      <p:pic>
        <p:nvPicPr>
          <p:cNvPr descr="hm-black.png" id="189" name="Google Shape;189;p17"/>
          <p:cNvPicPr preferRelativeResize="0"/>
          <p:nvPr/>
        </p:nvPicPr>
        <p:blipFill rotWithShape="1">
          <a:blip r:embed="rId3">
            <a:alphaModFix/>
          </a:blip>
          <a:srcRect b="0" l="0" r="0" t="0"/>
          <a:stretch/>
        </p:blipFill>
        <p:spPr>
          <a:xfrm>
            <a:off x="14859000" y="9171432"/>
            <a:ext cx="2517969" cy="438912"/>
          </a:xfrm>
          <a:prstGeom prst="rect">
            <a:avLst/>
          </a:prstGeom>
          <a:noFill/>
          <a:ln>
            <a:noFill/>
          </a:ln>
        </p:spPr>
      </p:pic>
      <p:sp>
        <p:nvSpPr>
          <p:cNvPr id="190" name="Oval 189"/>
          <p:cNvSpPr/>
          <p:nvPr/>
        </p:nvSpPr>
        <p:spPr>
          <a:xfrm>
            <a:off x="13807440" y="3566160"/>
            <a:ext cx="2651760" cy="2651760"/>
          </a:xfrm>
          <a:prstGeom prst="ellipse">
            <a:avLst/>
          </a:prstGeom>
          <a:solidFill>
            <a:srgbClr val="FDD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6400" b="1">
                <a:solidFill>
                  <a:srgbClr val="0F0F0F"/>
                </a:solidFill>
                <a:latin typeface="Instrument Sans"/>
              </a:rPr>
              <a:t>LC</a:t>
            </a:r>
          </a:p>
        </p:txBody>
      </p:sp>
      <p:sp>
        <p:nvSpPr>
          <p:cNvPr id="191" name="TextBox 190"/>
          <p:cNvSpPr txBox="1"/>
          <p:nvPr/>
        </p:nvSpPr>
        <p:spPr>
          <a:xfrm>
            <a:off x="914400" y="8229600"/>
            <a:ext cx="16459200" cy="457200"/>
          </a:xfrm>
          <a:prstGeom prst="rect">
            <a:avLst/>
          </a:prstGeom>
          <a:noFill/>
        </p:spPr>
        <p:txBody>
          <a:bodyPr wrap="square">
            <a:spAutoFit/>
          </a:bodyPr>
          <a:lstStyle/>
          <a:p>
            <a:pPr algn="l"/>
            <a:r>
              <a:rPr sz="1200" b="0">
                <a:solidFill>
                  <a:srgbClr val="5C5C5C"/>
                </a:solidFill>
                <a:latin typeface="JetBrains Mono"/>
                <a:hlinkClick r:id="rId4"/>
              </a:rPr>
              <a:t>Engineering on the shoulders of Bitcoindefi's open-stellar-passport and Open Stellar  ·  passport-pay-stellar.vercel.app  ·  github.com/LucasCariddi/passport-pay</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